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7" d="100"/>
          <a:sy n="37" d="100"/>
        </p:scale>
        <p:origin x="91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2B4294-8F53-AEE7-1A12-5902E18B2D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78C99D1-3976-28EA-9436-B35C9CEB6A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FD3189-0BC1-469E-2B1B-F2E4F313C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DEE4-4610-4F1D-BA0E-833E6AECAED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748858-2D64-275A-1454-7528CDE8A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3824B-2814-76B4-3DB5-A4530AD24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94127-AB4D-4D9F-9813-004C77A44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2324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333158-7FC3-B24B-3014-6304D3AA3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B3F02A-995C-D3DB-A042-34BB9D905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3F31CE-9627-0A1C-D98B-6A7A10C47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DEE4-4610-4F1D-BA0E-833E6AECAED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E4547B-9C1B-3D4D-E996-400C46A45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B97EE7-062B-FCA8-A79B-AEBB92AF7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94127-AB4D-4D9F-9813-004C77A44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181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E3DE33-F0DD-517F-6ED2-5E1E953AB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590729-533F-99D3-D721-3DE8772E59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C281BE-1BED-864B-F0CE-07DC205B3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DEE4-4610-4F1D-BA0E-833E6AECAED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7A0E5D-9223-FD24-F811-EB685BA37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8D2405-2851-1A34-DDEC-40521AED5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94127-AB4D-4D9F-9813-004C77A44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7449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1D4069-79D9-319B-ECE3-1EF8E0F17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045826-8BE3-67FF-3FE5-DDD159A567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7BEB693-6BCA-EA3D-6BC3-B7E4010042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88940E4-5805-6376-1884-DFC1283E4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DEE4-4610-4F1D-BA0E-833E6AECAED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E693458-E6F0-AB1F-8AE9-5DC489896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5489485-2754-9327-6103-DBDC6ED7A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94127-AB4D-4D9F-9813-004C77A44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6664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5B2233-A106-4F83-520B-C8A9130B5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828226F-D2AF-6D7D-486D-FF743A009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B18AD70-2A81-0631-716F-D5199EF1CE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25F8A17-B110-FF91-B1C2-89D25197F5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983BC53-6439-BF20-E56B-1FF872423C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7EE3525-AEE0-16BA-876A-0CB82E003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DEE4-4610-4F1D-BA0E-833E6AECAED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7FDF5D0-EB27-D1FC-F1A1-AE6291BD7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89B70BA-A4F6-1310-4A10-3EFB24F1B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94127-AB4D-4D9F-9813-004C77A44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2569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27D6C1-F3F5-FCCC-BBA5-652FFEC49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9AF1B27-D170-7070-42DF-54BAD094F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DEE4-4610-4F1D-BA0E-833E6AECAED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0633E71-BE2B-21A4-2C4C-E9C8C400B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6385B49-333A-D1C0-4220-AFDA8F15D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94127-AB4D-4D9F-9813-004C77A44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5445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88EB595-3D84-DBF5-ED64-D4D5AE1DD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DEE4-4610-4F1D-BA0E-833E6AECAED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33A457A-3FDC-C9E8-1FEA-C839B1386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F3F0C5-C638-C370-4551-33552CD2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94127-AB4D-4D9F-9813-004C77A44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2122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3CE1F2-C005-8741-4BD3-D292B472D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94F732-6E62-A2A1-4724-59AD02610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FCD13E8-E33D-46A7-650C-C3B9D2E567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67AB090-873C-C76F-50F2-F5F8EBBB7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DEE4-4610-4F1D-BA0E-833E6AECAED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5BC76D-D70E-E929-3501-5F89759B9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36FA23-2F35-501C-1BD4-F8A824787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94127-AB4D-4D9F-9813-004C77A44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5728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88F291-B380-9BD6-7D0E-49F8699F1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900F86B-E28B-1EBE-7579-28BD517854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FFE7440-8051-82FD-334B-845A271421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CD3609D-0856-D09F-9239-F42090B79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DEE4-4610-4F1D-BA0E-833E6AECAED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62683B9-2C8A-938C-D49A-C743B6E20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446241-8F50-BC37-A2DB-8986FEA7A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94127-AB4D-4D9F-9813-004C77A44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2789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C6EAC2-4FAA-9563-8E05-E52338DDF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891009-9B57-E739-8001-F31301C577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A0307D-4282-DC85-97E1-940BB773B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DEE4-4610-4F1D-BA0E-833E6AECAED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582D3C-4EB3-73B2-CB43-5493885C6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A7103B-CD22-BA6A-8532-A31E24D2C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94127-AB4D-4D9F-9813-004C77A44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2284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5192BFC-4F0A-DAEC-7947-F2060264A5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24F1BFE-6F67-85CA-EB95-763EDEDCCF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77FB2C-3D84-3178-BCA7-52443B73D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DEE4-4610-4F1D-BA0E-833E6AECAED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FA6DAC-26BE-6DFA-6279-F2F0E30AB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6DDAA9-333B-61ED-D94B-503DEA2C8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94127-AB4D-4D9F-9813-004C77A44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259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480F0AD-B42D-9F0C-01DA-AF76F0EBF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BDED3E-1FD4-6B71-9F2E-7FFD0F2B6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962128-D360-46F2-863F-7A91AA2EC5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0EDEE4-4610-4F1D-BA0E-833E6AECAED3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12E466-0CD5-B8E2-CE0D-45A1C44D20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5DE93-54D2-1A5D-7014-62A46D39C5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94127-AB4D-4D9F-9813-004C77A44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1988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C459CFC-B764-986C-5C0A-465BF81AFE1C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F336997-B391-4F1F-D527-57558E935E2C}"/>
              </a:ext>
            </a:extLst>
          </p:cNvPr>
          <p:cNvSpPr/>
          <p:nvPr/>
        </p:nvSpPr>
        <p:spPr>
          <a:xfrm>
            <a:off x="736600" y="6261100"/>
            <a:ext cx="10718800" cy="12700"/>
          </a:xfrm>
          <a:prstGeom prst="rect">
            <a:avLst/>
          </a:prstGeom>
          <a:solidFill>
            <a:srgbClr val="28354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F201C11-FE1D-867F-D1FC-5F43385DF7A2}"/>
              </a:ext>
            </a:extLst>
          </p:cNvPr>
          <p:cNvSpPr txBox="1"/>
          <p:nvPr/>
        </p:nvSpPr>
        <p:spPr>
          <a:xfrm>
            <a:off x="736600" y="6438900"/>
            <a:ext cx="508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800" b="1">
                <a:solidFill>
                  <a:srgbClr val="94A3B8"/>
                </a:solidFill>
                <a:latin typeface="Microsoft YaHei" panose="020B0503020204020204" pitchFamily="34" charset="-122"/>
              </a:rPr>
              <a:t>NEON SNAKE   /   </a:t>
            </a:r>
            <a:r>
              <a:rPr lang="zh-CN" altLang="en-US" sz="800" b="1">
                <a:solidFill>
                  <a:srgbClr val="94A3B8"/>
                </a:solidFill>
                <a:latin typeface="Microsoft YaHei" panose="020B0503020204020204" pitchFamily="34" charset="-122"/>
              </a:rPr>
              <a:t>项目介绍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C968845-ADB9-C663-FF25-D43106DC0D5B}"/>
              </a:ext>
            </a:extLst>
          </p:cNvPr>
          <p:cNvSpPr/>
          <p:nvPr/>
        </p:nvSpPr>
        <p:spPr>
          <a:xfrm>
            <a:off x="736600" y="736600"/>
            <a:ext cx="88900" cy="558800"/>
          </a:xfrm>
          <a:prstGeom prst="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3D16844-16E7-19C9-1B22-908BCFAED704}"/>
              </a:ext>
            </a:extLst>
          </p:cNvPr>
          <p:cNvSpPr txBox="1"/>
          <p:nvPr/>
        </p:nvSpPr>
        <p:spPr>
          <a:xfrm>
            <a:off x="1041400" y="698500"/>
            <a:ext cx="6477000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3800" b="1">
                <a:solidFill>
                  <a:srgbClr val="E2E2F0"/>
                </a:solidFill>
                <a:latin typeface="Malgun Gothic" panose="020B0503020000020004" pitchFamily="34" charset="-127"/>
              </a:rPr>
              <a:t>NEON SNAKE</a:t>
            </a:r>
            <a:endParaRPr lang="zh-CN" altLang="en-US" sz="3800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10D84E4-857B-1E02-5947-C8E17DACC325}"/>
              </a:ext>
            </a:extLst>
          </p:cNvPr>
          <p:cNvSpPr txBox="1"/>
          <p:nvPr/>
        </p:nvSpPr>
        <p:spPr>
          <a:xfrm>
            <a:off x="1066800" y="1549400"/>
            <a:ext cx="5207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A3E635"/>
                </a:solidFill>
                <a:latin typeface="Malgun Gothic" panose="020B0503020000020004" pitchFamily="34" charset="-127"/>
              </a:rPr>
              <a:t>EAT  ·  GROW  ·  GLOW</a:t>
            </a:r>
            <a:endParaRPr lang="zh-CN" altLang="en-US" sz="1300" b="1">
              <a:solidFill>
                <a:srgbClr val="A3E635"/>
              </a:solidFill>
              <a:latin typeface="Malgun Gothic" panose="020B0503020000020004" pitchFamily="34" charset="-127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667A4C-2ED1-D059-1E7D-4A9ADA2139C5}"/>
              </a:ext>
            </a:extLst>
          </p:cNvPr>
          <p:cNvSpPr txBox="1"/>
          <p:nvPr/>
        </p:nvSpPr>
        <p:spPr>
          <a:xfrm>
            <a:off x="1066800" y="2209800"/>
            <a:ext cx="6350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300" b="1">
                <a:solidFill>
                  <a:srgbClr val="E2E2F0"/>
                </a:solidFill>
                <a:latin typeface="Microsoft YaHei" panose="020B0503020204020204" pitchFamily="34" charset="-122"/>
              </a:rPr>
              <a:t>即开即玩的霓虹贪吃蛇游戏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D6082CD-29EC-3E26-1F98-ED38A82636A3}"/>
              </a:ext>
            </a:extLst>
          </p:cNvPr>
          <p:cNvSpPr txBox="1"/>
          <p:nvPr/>
        </p:nvSpPr>
        <p:spPr>
          <a:xfrm>
            <a:off x="1066800" y="2933700"/>
            <a:ext cx="5969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>
                <a:solidFill>
                  <a:srgbClr val="94A3B8"/>
                </a:solidFill>
                <a:latin typeface="Microsoft YaHei" panose="020B0503020204020204" pitchFamily="34" charset="-122"/>
              </a:rPr>
              <a:t>吃下霓虹糖果，累积连击与分数，在不断加速的挑战中冲击最高纪录。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01E4BEE-655B-5D1A-82DD-906061DFA10B}"/>
              </a:ext>
            </a:extLst>
          </p:cNvPr>
          <p:cNvSpPr/>
          <p:nvPr/>
        </p:nvSpPr>
        <p:spPr>
          <a:xfrm>
            <a:off x="1066800" y="4140200"/>
            <a:ext cx="1651000" cy="482600"/>
          </a:xfrm>
          <a:prstGeom prst="roundRect">
            <a:avLst/>
          </a:prstGeom>
          <a:solidFill>
            <a:srgbClr val="131D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E83D322-E97B-5FE6-DCB6-1BD80781863B}"/>
              </a:ext>
            </a:extLst>
          </p:cNvPr>
          <p:cNvSpPr txBox="1"/>
          <p:nvPr/>
        </p:nvSpPr>
        <p:spPr>
          <a:xfrm>
            <a:off x="1206500" y="4254500"/>
            <a:ext cx="1460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 b="1">
                <a:solidFill>
                  <a:srgbClr val="22D3EE"/>
                </a:solidFill>
                <a:latin typeface="Microsoft YaHei" panose="020B0503020204020204" pitchFamily="34" charset="-122"/>
              </a:rPr>
              <a:t>单文件网页</a:t>
            </a:r>
            <a:endParaRPr lang="zh-CN" altLang="en-US" sz="1100" b="1">
              <a:solidFill>
                <a:srgbClr val="22D3E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B72A70C-B86D-45EF-D634-F5135F4C3C2C}"/>
              </a:ext>
            </a:extLst>
          </p:cNvPr>
          <p:cNvSpPr/>
          <p:nvPr/>
        </p:nvSpPr>
        <p:spPr>
          <a:xfrm>
            <a:off x="2870200" y="4140200"/>
            <a:ext cx="1651000" cy="482600"/>
          </a:xfrm>
          <a:prstGeom prst="roundRect">
            <a:avLst/>
          </a:prstGeom>
          <a:solidFill>
            <a:srgbClr val="131D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D685138-D276-BDD4-0C81-8350E2C57204}"/>
              </a:ext>
            </a:extLst>
          </p:cNvPr>
          <p:cNvSpPr txBox="1"/>
          <p:nvPr/>
        </p:nvSpPr>
        <p:spPr>
          <a:xfrm>
            <a:off x="3022600" y="4254500"/>
            <a:ext cx="1460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 b="1">
                <a:solidFill>
                  <a:srgbClr val="A3E635"/>
                </a:solidFill>
                <a:latin typeface="Microsoft YaHei" panose="020B0503020204020204" pitchFamily="34" charset="-122"/>
              </a:rPr>
              <a:t>无需安装</a:t>
            </a:r>
            <a:endParaRPr lang="zh-CN" altLang="en-US" sz="1100" b="1">
              <a:solidFill>
                <a:srgbClr val="A3E63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F13C91F-6565-FA71-D2F1-7BE88BF34CAF}"/>
              </a:ext>
            </a:extLst>
          </p:cNvPr>
          <p:cNvSpPr/>
          <p:nvPr/>
        </p:nvSpPr>
        <p:spPr>
          <a:xfrm>
            <a:off x="4673600" y="4140200"/>
            <a:ext cx="1854200" cy="482600"/>
          </a:xfrm>
          <a:prstGeom prst="roundRect">
            <a:avLst/>
          </a:prstGeom>
          <a:solidFill>
            <a:srgbClr val="131D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1E17DC1-CA4D-B268-B2EB-044B2FB4A348}"/>
              </a:ext>
            </a:extLst>
          </p:cNvPr>
          <p:cNvSpPr txBox="1"/>
          <p:nvPr/>
        </p:nvSpPr>
        <p:spPr>
          <a:xfrm>
            <a:off x="4800600" y="4254500"/>
            <a:ext cx="165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 b="1">
                <a:solidFill>
                  <a:srgbClr val="F470B6"/>
                </a:solidFill>
                <a:latin typeface="Microsoft YaHei" panose="020B0503020204020204" pitchFamily="34" charset="-122"/>
              </a:rPr>
              <a:t>支持手机操作</a:t>
            </a:r>
            <a:endParaRPr lang="zh-CN" altLang="en-US" sz="1100" b="1">
              <a:solidFill>
                <a:srgbClr val="F470B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025060E-2D05-E829-F828-06754917B5CA}"/>
              </a:ext>
            </a:extLst>
          </p:cNvPr>
          <p:cNvSpPr/>
          <p:nvPr/>
        </p:nvSpPr>
        <p:spPr>
          <a:xfrm>
            <a:off x="7747000" y="990600"/>
            <a:ext cx="3606800" cy="4343400"/>
          </a:xfrm>
          <a:prstGeom prst="roundRect">
            <a:avLst/>
          </a:prstGeom>
          <a:solidFill>
            <a:srgbClr val="0F16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C0B215A-D9C7-AA5C-3600-AC35701B1DB3}"/>
              </a:ext>
            </a:extLst>
          </p:cNvPr>
          <p:cNvSpPr txBox="1"/>
          <p:nvPr/>
        </p:nvSpPr>
        <p:spPr>
          <a:xfrm>
            <a:off x="8064500" y="1257300"/>
            <a:ext cx="2921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94A3B8"/>
                </a:solidFill>
                <a:latin typeface="Malgun Gothic" panose="020B0503020000020004" pitchFamily="34" charset="-127"/>
              </a:rPr>
              <a:t>ARCADE MODE</a:t>
            </a:r>
            <a:endParaRPr lang="zh-CN" altLang="en-US" sz="1000" b="1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C572A30-FBE1-F0B2-C8E0-32508E912D1D}"/>
              </a:ext>
            </a:extLst>
          </p:cNvPr>
          <p:cNvSpPr/>
          <p:nvPr/>
        </p:nvSpPr>
        <p:spPr>
          <a:xfrm>
            <a:off x="8521700" y="1714500"/>
            <a:ext cx="12700" cy="32258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8399714-4EDC-70DE-582C-1B8978A258B8}"/>
              </a:ext>
            </a:extLst>
          </p:cNvPr>
          <p:cNvSpPr/>
          <p:nvPr/>
        </p:nvSpPr>
        <p:spPr>
          <a:xfrm>
            <a:off x="8026400" y="2209800"/>
            <a:ext cx="3098800" cy="127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1A42DCF-77D7-FEEC-DBBA-0F88E2B67469}"/>
              </a:ext>
            </a:extLst>
          </p:cNvPr>
          <p:cNvSpPr/>
          <p:nvPr/>
        </p:nvSpPr>
        <p:spPr>
          <a:xfrm>
            <a:off x="9017000" y="1714500"/>
            <a:ext cx="12700" cy="32258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6A7A6CB-025F-99F9-93A8-C9B4DACE8FD9}"/>
              </a:ext>
            </a:extLst>
          </p:cNvPr>
          <p:cNvSpPr/>
          <p:nvPr/>
        </p:nvSpPr>
        <p:spPr>
          <a:xfrm>
            <a:off x="8026400" y="2705100"/>
            <a:ext cx="3098800" cy="127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35E0B21-BB1B-6843-4A80-2059486D6E2C}"/>
              </a:ext>
            </a:extLst>
          </p:cNvPr>
          <p:cNvSpPr/>
          <p:nvPr/>
        </p:nvSpPr>
        <p:spPr>
          <a:xfrm>
            <a:off x="9512300" y="1714500"/>
            <a:ext cx="12700" cy="32258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30ED2DA-9DF4-A819-1678-CE040A7110A7}"/>
              </a:ext>
            </a:extLst>
          </p:cNvPr>
          <p:cNvSpPr/>
          <p:nvPr/>
        </p:nvSpPr>
        <p:spPr>
          <a:xfrm>
            <a:off x="8026400" y="3200400"/>
            <a:ext cx="3098800" cy="127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AC5C59C-2284-05F2-0371-BFF723499F3A}"/>
              </a:ext>
            </a:extLst>
          </p:cNvPr>
          <p:cNvSpPr/>
          <p:nvPr/>
        </p:nvSpPr>
        <p:spPr>
          <a:xfrm>
            <a:off x="10007600" y="1714500"/>
            <a:ext cx="12700" cy="32258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2902A67-613A-49E3-FB3C-BE977DEF79E9}"/>
              </a:ext>
            </a:extLst>
          </p:cNvPr>
          <p:cNvSpPr/>
          <p:nvPr/>
        </p:nvSpPr>
        <p:spPr>
          <a:xfrm>
            <a:off x="8026400" y="3695700"/>
            <a:ext cx="3098800" cy="127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25C2992-BA03-CC3D-6259-5C30F9BFA38C}"/>
              </a:ext>
            </a:extLst>
          </p:cNvPr>
          <p:cNvSpPr/>
          <p:nvPr/>
        </p:nvSpPr>
        <p:spPr>
          <a:xfrm>
            <a:off x="10502900" y="1714500"/>
            <a:ext cx="12700" cy="32258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C548367-DB3C-D5DB-A1AF-E1608F747E1D}"/>
              </a:ext>
            </a:extLst>
          </p:cNvPr>
          <p:cNvSpPr/>
          <p:nvPr/>
        </p:nvSpPr>
        <p:spPr>
          <a:xfrm>
            <a:off x="8026400" y="4191000"/>
            <a:ext cx="3098800" cy="127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0FF029AE-A56F-3304-B545-9457B1220612}"/>
              </a:ext>
            </a:extLst>
          </p:cNvPr>
          <p:cNvSpPr/>
          <p:nvPr/>
        </p:nvSpPr>
        <p:spPr>
          <a:xfrm>
            <a:off x="8953500" y="3695700"/>
            <a:ext cx="406400" cy="406400"/>
          </a:xfrm>
          <a:prstGeom prst="round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1DAE10FD-BA81-13CE-0493-FA46AE0A5B57}"/>
              </a:ext>
            </a:extLst>
          </p:cNvPr>
          <p:cNvSpPr/>
          <p:nvPr/>
        </p:nvSpPr>
        <p:spPr>
          <a:xfrm>
            <a:off x="9448800" y="3695700"/>
            <a:ext cx="406400" cy="406400"/>
          </a:xfrm>
          <a:prstGeom prst="round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BBD3BD9F-F6A3-E3DA-B51F-9ABC296C093A}"/>
              </a:ext>
            </a:extLst>
          </p:cNvPr>
          <p:cNvSpPr/>
          <p:nvPr/>
        </p:nvSpPr>
        <p:spPr>
          <a:xfrm>
            <a:off x="9944100" y="3695700"/>
            <a:ext cx="406400" cy="406400"/>
          </a:xfrm>
          <a:prstGeom prst="round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99CDB737-40E9-7262-049A-F863175DA01B}"/>
              </a:ext>
            </a:extLst>
          </p:cNvPr>
          <p:cNvSpPr/>
          <p:nvPr/>
        </p:nvSpPr>
        <p:spPr>
          <a:xfrm>
            <a:off x="9944100" y="3200400"/>
            <a:ext cx="406400" cy="406400"/>
          </a:xfrm>
          <a:prstGeom prst="round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70165BE6-9952-F9D5-BF2C-E41BAB8975D3}"/>
              </a:ext>
            </a:extLst>
          </p:cNvPr>
          <p:cNvSpPr/>
          <p:nvPr/>
        </p:nvSpPr>
        <p:spPr>
          <a:xfrm>
            <a:off x="9944100" y="2705100"/>
            <a:ext cx="406400" cy="406400"/>
          </a:xfrm>
          <a:prstGeom prst="round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F292A1A9-E9E0-C65E-FFE7-9CBB93C0C024}"/>
              </a:ext>
            </a:extLst>
          </p:cNvPr>
          <p:cNvSpPr/>
          <p:nvPr/>
        </p:nvSpPr>
        <p:spPr>
          <a:xfrm>
            <a:off x="9944100" y="2705100"/>
            <a:ext cx="406400" cy="406400"/>
          </a:xfrm>
          <a:prstGeom prst="roundRect">
            <a:avLst/>
          </a:prstGeom>
          <a:solidFill>
            <a:srgbClr val="D0FF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42FE4A97-EFF8-A615-4F49-460E7922B0E7}"/>
              </a:ext>
            </a:extLst>
          </p:cNvPr>
          <p:cNvSpPr/>
          <p:nvPr/>
        </p:nvSpPr>
        <p:spPr>
          <a:xfrm>
            <a:off x="8559800" y="2705100"/>
            <a:ext cx="254000" cy="254000"/>
          </a:xfrm>
          <a:prstGeom prst="ellipse">
            <a:avLst/>
          </a:prstGeom>
          <a:solidFill>
            <a:srgbClr val="F470B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4752422C-648E-365D-0DB8-B3085A84132F}"/>
              </a:ext>
            </a:extLst>
          </p:cNvPr>
          <p:cNvSpPr txBox="1"/>
          <p:nvPr/>
        </p:nvSpPr>
        <p:spPr>
          <a:xfrm>
            <a:off x="8077200" y="5054600"/>
            <a:ext cx="2286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E2E2F0"/>
                </a:solidFill>
                <a:latin typeface="Malgun Gothic" panose="020B0503020000020004" pitchFamily="34" charset="-127"/>
              </a:rPr>
              <a:t>SCORE   120</a:t>
            </a:r>
            <a:endParaRPr lang="zh-CN" altLang="en-US" sz="1000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55EA2C8E-B352-A605-8F08-AECFBC414D42}"/>
              </a:ext>
            </a:extLst>
          </p:cNvPr>
          <p:cNvSpPr txBox="1"/>
          <p:nvPr/>
        </p:nvSpPr>
        <p:spPr>
          <a:xfrm>
            <a:off x="1066800" y="5892800"/>
            <a:ext cx="381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000">
                <a:solidFill>
                  <a:srgbClr val="94A3B8"/>
                </a:solidFill>
                <a:latin typeface="Microsoft YaHei" panose="020B0503020204020204" pitchFamily="34" charset="-122"/>
              </a:rPr>
              <a:t>项目介绍  </a:t>
            </a:r>
            <a:r>
              <a:rPr lang="en-US" altLang="ko-KR" sz="1000">
                <a:solidFill>
                  <a:srgbClr val="94A3B8"/>
                </a:solidFill>
                <a:latin typeface="Microsoft YaHei" panose="020B0503020204020204" pitchFamily="34" charset="-122"/>
              </a:rPr>
              <a:t>/  2026</a:t>
            </a:r>
            <a:endParaRPr lang="zh-CN" altLang="en-US" sz="1000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69209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6" grpId="0" animBg="1"/>
      <p:bldP spid="3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DCAF5FF-0FA6-A5AF-DCF3-93BCBCCD7661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D59DA96-3468-426D-7E9A-5B025EA1E7D7}"/>
              </a:ext>
            </a:extLst>
          </p:cNvPr>
          <p:cNvSpPr/>
          <p:nvPr/>
        </p:nvSpPr>
        <p:spPr>
          <a:xfrm>
            <a:off x="736600" y="6261100"/>
            <a:ext cx="10718800" cy="12700"/>
          </a:xfrm>
          <a:prstGeom prst="rect">
            <a:avLst/>
          </a:prstGeom>
          <a:solidFill>
            <a:srgbClr val="28354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A15D3B1-FAA1-AE53-18AC-A30D7F226C88}"/>
              </a:ext>
            </a:extLst>
          </p:cNvPr>
          <p:cNvSpPr txBox="1"/>
          <p:nvPr/>
        </p:nvSpPr>
        <p:spPr>
          <a:xfrm>
            <a:off x="736600" y="6438900"/>
            <a:ext cx="508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00" b="1">
                <a:solidFill>
                  <a:srgbClr val="94A3B8"/>
                </a:solidFill>
                <a:latin typeface="Microsoft YaHei" panose="020B0503020204020204" pitchFamily="34" charset="-122"/>
              </a:rPr>
              <a:t>NEON SNAKE   /   </a:t>
            </a:r>
            <a:r>
              <a:rPr lang="zh-CN" altLang="en-US" sz="800" b="1">
                <a:solidFill>
                  <a:srgbClr val="94A3B8"/>
                </a:solidFill>
                <a:latin typeface="Microsoft YaHei" panose="020B0503020204020204" pitchFamily="34" charset="-122"/>
              </a:rPr>
              <a:t>游戏体验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6F01A7F-1C4A-4F9A-2F49-7E40B653FEC7}"/>
              </a:ext>
            </a:extLst>
          </p:cNvPr>
          <p:cNvSpPr txBox="1"/>
          <p:nvPr/>
        </p:nvSpPr>
        <p:spPr>
          <a:xfrm>
            <a:off x="736600" y="533400"/>
            <a:ext cx="381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A3E635"/>
                </a:solidFill>
                <a:latin typeface="Microsoft YaHei" panose="020B0503020204020204" pitchFamily="34" charset="-122"/>
              </a:rPr>
              <a:t>01  /  </a:t>
            </a:r>
            <a:r>
              <a:rPr lang="zh-CN" altLang="en-US" sz="1000" b="1">
                <a:solidFill>
                  <a:srgbClr val="A3E635"/>
                </a:solidFill>
                <a:latin typeface="Microsoft YaHei" panose="020B0503020204020204" pitchFamily="34" charset="-122"/>
              </a:rPr>
              <a:t>游戏体验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A928540-001E-6118-5C93-D3A3403C0A37}"/>
              </a:ext>
            </a:extLst>
          </p:cNvPr>
          <p:cNvSpPr txBox="1"/>
          <p:nvPr/>
        </p:nvSpPr>
        <p:spPr>
          <a:xfrm>
            <a:off x="736600" y="927100"/>
            <a:ext cx="10668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500" b="1">
                <a:solidFill>
                  <a:srgbClr val="E2E2F0"/>
                </a:solidFill>
                <a:latin typeface="Microsoft YaHei" panose="020B0503020204020204" pitchFamily="34" charset="-122"/>
              </a:rPr>
              <a:t>简单上手，越玩越有挑战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3427B96-A46A-B485-71D8-C2E34747A5A4}"/>
              </a:ext>
            </a:extLst>
          </p:cNvPr>
          <p:cNvSpPr txBox="1"/>
          <p:nvPr/>
        </p:nvSpPr>
        <p:spPr>
          <a:xfrm>
            <a:off x="762000" y="1600200"/>
            <a:ext cx="1016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94A3B8"/>
                </a:solidFill>
                <a:latin typeface="Microsoft YaHei" panose="020B0503020204020204" pitchFamily="34" charset="-122"/>
              </a:rPr>
              <a:t>规则清晰、节奏渐进，并为键盘与触屏都做好了操作支持。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7C6DE80-A404-309F-1D27-FF6FF9A60D3D}"/>
              </a:ext>
            </a:extLst>
          </p:cNvPr>
          <p:cNvSpPr/>
          <p:nvPr/>
        </p:nvSpPr>
        <p:spPr>
          <a:xfrm>
            <a:off x="736600" y="2413000"/>
            <a:ext cx="3352800" cy="3022600"/>
          </a:xfrm>
          <a:prstGeom prst="roundRect">
            <a:avLst/>
          </a:prstGeom>
          <a:solidFill>
            <a:srgbClr val="0F16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88233F12-F40E-9DD3-B2B7-EED43D6A445F}"/>
              </a:ext>
            </a:extLst>
          </p:cNvPr>
          <p:cNvSpPr/>
          <p:nvPr/>
        </p:nvSpPr>
        <p:spPr>
          <a:xfrm>
            <a:off x="4419600" y="2413000"/>
            <a:ext cx="3352800" cy="3022600"/>
          </a:xfrm>
          <a:prstGeom prst="roundRect">
            <a:avLst/>
          </a:prstGeom>
          <a:solidFill>
            <a:srgbClr val="0F16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C3C198E-E218-375C-77E0-35D74A6D0C2D}"/>
              </a:ext>
            </a:extLst>
          </p:cNvPr>
          <p:cNvSpPr/>
          <p:nvPr/>
        </p:nvSpPr>
        <p:spPr>
          <a:xfrm>
            <a:off x="8102600" y="2413000"/>
            <a:ext cx="3352800" cy="3022600"/>
          </a:xfrm>
          <a:prstGeom prst="roundRect">
            <a:avLst/>
          </a:prstGeom>
          <a:solidFill>
            <a:srgbClr val="0F16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0A7FC79-FB55-AE6B-5FC0-D35331998288}"/>
              </a:ext>
            </a:extLst>
          </p:cNvPr>
          <p:cNvSpPr txBox="1"/>
          <p:nvPr/>
        </p:nvSpPr>
        <p:spPr>
          <a:xfrm>
            <a:off x="1016000" y="2679700"/>
            <a:ext cx="571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A3E635"/>
                </a:solidFill>
                <a:latin typeface="Malgun Gothic" panose="020B0503020000020004" pitchFamily="34" charset="-127"/>
              </a:rPr>
              <a:t>01</a:t>
            </a:r>
            <a:endParaRPr lang="zh-CN" altLang="en-US" sz="1300" b="1">
              <a:solidFill>
                <a:srgbClr val="A3E635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29393DE-128E-BE1E-A43E-B758B31AB832}"/>
              </a:ext>
            </a:extLst>
          </p:cNvPr>
          <p:cNvSpPr txBox="1"/>
          <p:nvPr/>
        </p:nvSpPr>
        <p:spPr>
          <a:xfrm>
            <a:off x="1016000" y="32004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b="1">
                <a:solidFill>
                  <a:srgbClr val="E2E2F0"/>
                </a:solidFill>
                <a:latin typeface="Microsoft YaHei" panose="020B0503020204020204" pitchFamily="34" charset="-122"/>
              </a:rPr>
              <a:t>吃糖成长</a:t>
            </a:r>
            <a:endParaRPr lang="zh-CN" altLang="en-US" b="1">
              <a:solidFill>
                <a:srgbClr val="E2E2F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25FBF1A-18F4-32ED-E11D-C63DEB42D6EF}"/>
              </a:ext>
            </a:extLst>
          </p:cNvPr>
          <p:cNvSpPr txBox="1"/>
          <p:nvPr/>
        </p:nvSpPr>
        <p:spPr>
          <a:xfrm>
            <a:off x="1016000" y="3822700"/>
            <a:ext cx="279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22D3EE"/>
                </a:solidFill>
                <a:latin typeface="Malgun Gothic" panose="020B0503020000020004" pitchFamily="34" charset="-127"/>
              </a:rPr>
              <a:t>🍩  🍕  🧋  🍓  💎  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25C3DEA-8152-9EAE-DB89-8A84AAD84944}"/>
              </a:ext>
            </a:extLst>
          </p:cNvPr>
          <p:cNvSpPr txBox="1"/>
          <p:nvPr/>
        </p:nvSpPr>
        <p:spPr>
          <a:xfrm>
            <a:off x="1016000" y="4394200"/>
            <a:ext cx="274320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00">
                <a:solidFill>
                  <a:srgbClr val="94A3B8"/>
                </a:solidFill>
                <a:latin typeface="Microsoft YaHei" panose="020B0503020204020204" pitchFamily="34" charset="-122"/>
              </a:rPr>
              <a:t>吃到食物即可得分并变长。</a:t>
            </a:r>
          </a:p>
          <a:p>
            <a:r>
              <a:rPr lang="zh-CN" altLang="en-US" sz="1100">
                <a:solidFill>
                  <a:srgbClr val="94A3B8"/>
                </a:solidFill>
                <a:latin typeface="Microsoft YaHei" panose="020B0503020204020204" pitchFamily="34" charset="-122"/>
              </a:rPr>
              <a:t>连续进食触发连击，最高 </a:t>
            </a:r>
            <a:r>
              <a:rPr lang="en-US" altLang="zh-CN" sz="1100">
                <a:solidFill>
                  <a:srgbClr val="94A3B8"/>
                </a:solidFill>
                <a:latin typeface="Microsoft YaHei" panose="020B0503020204020204" pitchFamily="34" charset="-122"/>
              </a:rPr>
              <a:t>x5</a:t>
            </a:r>
            <a:r>
              <a:rPr lang="zh-CN" altLang="en-US" sz="1100">
                <a:solidFill>
                  <a:srgbClr val="94A3B8"/>
                </a:solidFill>
                <a:latin typeface="Microsoft YaHei" panose="020B0503020204020204" pitchFamily="34" charset="-122"/>
              </a:rPr>
              <a:t>；分数越高，移动速度越快。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2B62D71-CCD3-C8A6-1B5D-417BC20696DA}"/>
              </a:ext>
            </a:extLst>
          </p:cNvPr>
          <p:cNvSpPr txBox="1"/>
          <p:nvPr/>
        </p:nvSpPr>
        <p:spPr>
          <a:xfrm>
            <a:off x="4699000" y="2679700"/>
            <a:ext cx="571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22D3EE"/>
                </a:solidFill>
                <a:latin typeface="Malgun Gothic" panose="020B0503020000020004" pitchFamily="34" charset="-127"/>
              </a:rPr>
              <a:t>02</a:t>
            </a:r>
            <a:endParaRPr lang="zh-CN" altLang="en-US" sz="1300" b="1">
              <a:solidFill>
                <a:srgbClr val="22D3EE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1E73CFD-FA0F-9890-4758-CFC2DEE65E33}"/>
              </a:ext>
            </a:extLst>
          </p:cNvPr>
          <p:cNvSpPr txBox="1"/>
          <p:nvPr/>
        </p:nvSpPr>
        <p:spPr>
          <a:xfrm>
            <a:off x="4699000" y="32004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b="1">
                <a:solidFill>
                  <a:srgbClr val="E2E2F0"/>
                </a:solidFill>
                <a:latin typeface="Microsoft YaHei" panose="020B0503020204020204" pitchFamily="34" charset="-122"/>
              </a:rPr>
              <a:t>躲避怪物</a:t>
            </a:r>
            <a:endParaRPr lang="zh-CN" altLang="en-US" b="1">
              <a:solidFill>
                <a:srgbClr val="E2E2F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7E206C8-730E-5D59-265A-23B527C129AE}"/>
              </a:ext>
            </a:extLst>
          </p:cNvPr>
          <p:cNvSpPr txBox="1"/>
          <p:nvPr/>
        </p:nvSpPr>
        <p:spPr>
          <a:xfrm>
            <a:off x="4699000" y="3822700"/>
            <a:ext cx="2794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 b="1">
                <a:solidFill>
                  <a:srgbClr val="F470B6"/>
                </a:solidFill>
                <a:latin typeface="Microsoft YaHei" panose="020B0503020204020204" pitchFamily="34" charset="-122"/>
              </a:rPr>
              <a:t>👾  </a:t>
            </a:r>
            <a:r>
              <a:rPr lang="en-US" altLang="ko-KR" sz="1300" b="1">
                <a:solidFill>
                  <a:srgbClr val="F470B6"/>
                </a:solidFill>
                <a:latin typeface="Microsoft YaHei" panose="020B0503020204020204" pitchFamily="34" charset="-122"/>
              </a:rPr>
              <a:t>100 </a:t>
            </a:r>
            <a:r>
              <a:rPr lang="ko-KR" altLang="en-US" sz="1300" b="1">
                <a:solidFill>
                  <a:srgbClr val="F470B6"/>
                </a:solidFill>
                <a:latin typeface="Microsoft YaHei" panose="020B0503020204020204" pitchFamily="34" charset="-122"/>
              </a:rPr>
              <a:t>分登场</a:t>
            </a:r>
            <a:endParaRPr lang="zh-CN" altLang="en-US" sz="1300" b="1">
              <a:solidFill>
                <a:srgbClr val="F470B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0B87B6D-E039-ECFB-45FA-26D3C1C0F7AD}"/>
              </a:ext>
            </a:extLst>
          </p:cNvPr>
          <p:cNvSpPr txBox="1"/>
          <p:nvPr/>
        </p:nvSpPr>
        <p:spPr>
          <a:xfrm>
            <a:off x="4699000" y="4368800"/>
            <a:ext cx="274320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00">
                <a:solidFill>
                  <a:srgbClr val="94A3B8"/>
                </a:solidFill>
                <a:latin typeface="Microsoft YaHei" panose="020B0503020204020204" pitchFamily="34" charset="-122"/>
              </a:rPr>
              <a:t>达到分数门槛后怪物加入棋盘，每 </a:t>
            </a:r>
            <a:r>
              <a:rPr lang="en-US" altLang="zh-CN" sz="1100">
                <a:solidFill>
                  <a:srgbClr val="94A3B8"/>
                </a:solidFill>
                <a:latin typeface="Microsoft YaHei" panose="020B0503020204020204" pitchFamily="34" charset="-122"/>
              </a:rPr>
              <a:t>100 </a:t>
            </a:r>
            <a:r>
              <a:rPr lang="zh-CN" altLang="en-US" sz="1100">
                <a:solidFill>
                  <a:srgbClr val="94A3B8"/>
                </a:solidFill>
                <a:latin typeface="Microsoft YaHei" panose="020B0503020204020204" pitchFamily="34" charset="-122"/>
              </a:rPr>
              <a:t>分增加一只，最多 </a:t>
            </a:r>
            <a:r>
              <a:rPr lang="en-US" altLang="zh-CN" sz="1100">
                <a:solidFill>
                  <a:srgbClr val="94A3B8"/>
                </a:solidFill>
                <a:latin typeface="Microsoft YaHei" panose="020B0503020204020204" pitchFamily="34" charset="-122"/>
              </a:rPr>
              <a:t>3 </a:t>
            </a:r>
            <a:r>
              <a:rPr lang="zh-CN" altLang="en-US" sz="1100">
                <a:solidFill>
                  <a:srgbClr val="94A3B8"/>
                </a:solidFill>
                <a:latin typeface="Microsoft YaHei" panose="020B0503020204020204" pitchFamily="34" charset="-122"/>
              </a:rPr>
              <a:t>只。撞到怪物或自己会缩短身体；撞墙则游戏结束。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F48F589-47DA-E0F1-ED8F-16D7BD32D7C4}"/>
              </a:ext>
            </a:extLst>
          </p:cNvPr>
          <p:cNvSpPr txBox="1"/>
          <p:nvPr/>
        </p:nvSpPr>
        <p:spPr>
          <a:xfrm>
            <a:off x="8382000" y="2679700"/>
            <a:ext cx="571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F470B6"/>
                </a:solidFill>
                <a:latin typeface="Malgun Gothic" panose="020B0503020000020004" pitchFamily="34" charset="-127"/>
              </a:rPr>
              <a:t>03</a:t>
            </a:r>
            <a:endParaRPr lang="zh-CN" altLang="en-US" sz="1300" b="1">
              <a:solidFill>
                <a:srgbClr val="F470B6"/>
              </a:solidFill>
              <a:latin typeface="Malgun Gothic" panose="020B0503020000020004" pitchFamily="34" charset="-127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3325C41-69AA-35D2-EA17-059A281C58C7}"/>
              </a:ext>
            </a:extLst>
          </p:cNvPr>
          <p:cNvSpPr txBox="1"/>
          <p:nvPr/>
        </p:nvSpPr>
        <p:spPr>
          <a:xfrm>
            <a:off x="8382000" y="3200400"/>
            <a:ext cx="279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E2E2F0"/>
                </a:solidFill>
                <a:latin typeface="Microsoft YaHei" panose="020B0503020204020204" pitchFamily="34" charset="-122"/>
              </a:rPr>
              <a:t>随时开玩</a:t>
            </a:r>
            <a:endParaRPr lang="zh-CN" altLang="en-US" sz="1700" b="1">
              <a:solidFill>
                <a:srgbClr val="E2E2F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D24EC5B-E1C9-E99E-DCB6-9E47DF1ADBD5}"/>
              </a:ext>
            </a:extLst>
          </p:cNvPr>
          <p:cNvSpPr txBox="1"/>
          <p:nvPr/>
        </p:nvSpPr>
        <p:spPr>
          <a:xfrm>
            <a:off x="8382000" y="3822700"/>
            <a:ext cx="279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 b="1">
                <a:solidFill>
                  <a:srgbClr val="22D3EE"/>
                </a:solidFill>
                <a:latin typeface="Microsoft YaHei" panose="020B0503020204020204" pitchFamily="34" charset="-122"/>
              </a:rPr>
              <a:t>键盘  </a:t>
            </a:r>
            <a:r>
              <a:rPr lang="en-US" altLang="ko-KR" sz="1400" b="1">
                <a:solidFill>
                  <a:srgbClr val="22D3EE"/>
                </a:solidFill>
                <a:latin typeface="Microsoft YaHei" panose="020B0503020204020204" pitchFamily="34" charset="-122"/>
              </a:rPr>
              <a:t>/  </a:t>
            </a:r>
            <a:r>
              <a:rPr lang="ko-KR" altLang="en-US" sz="1400" b="1">
                <a:solidFill>
                  <a:srgbClr val="22D3EE"/>
                </a:solidFill>
                <a:latin typeface="Microsoft YaHei" panose="020B0503020204020204" pitchFamily="34" charset="-122"/>
              </a:rPr>
              <a:t>触屏</a:t>
            </a:r>
            <a:endParaRPr lang="zh-CN" altLang="en-US" sz="1400" b="1">
              <a:solidFill>
                <a:srgbClr val="22D3E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7F4D797-97E9-0802-CDEA-DEC93DF19145}"/>
              </a:ext>
            </a:extLst>
          </p:cNvPr>
          <p:cNvSpPr txBox="1"/>
          <p:nvPr/>
        </p:nvSpPr>
        <p:spPr>
          <a:xfrm>
            <a:off x="8382000" y="4368800"/>
            <a:ext cx="274320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00">
                <a:solidFill>
                  <a:srgbClr val="94A3B8"/>
                </a:solidFill>
                <a:latin typeface="Microsoft YaHei" panose="020B0503020204020204" pitchFamily="34" charset="-122"/>
              </a:rPr>
              <a:t>方向键 </a:t>
            </a:r>
            <a:r>
              <a:rPr lang="en-US" altLang="zh-CN" sz="1100">
                <a:solidFill>
                  <a:srgbClr val="94A3B8"/>
                </a:solidFill>
                <a:latin typeface="Microsoft YaHei" panose="020B0503020204020204" pitchFamily="34" charset="-122"/>
              </a:rPr>
              <a:t>/ WASD</a:t>
            </a:r>
            <a:r>
              <a:rPr lang="zh-CN" altLang="en-US" sz="1100">
                <a:solidFill>
                  <a:srgbClr val="94A3B8"/>
                </a:solidFill>
                <a:latin typeface="Microsoft YaHei" panose="020B0503020204020204" pitchFamily="34" charset="-122"/>
              </a:rPr>
              <a:t>、手机滑动与屏幕 </a:t>
            </a:r>
            <a:r>
              <a:rPr lang="en-US" altLang="zh-CN" sz="1100">
                <a:solidFill>
                  <a:srgbClr val="94A3B8"/>
                </a:solidFill>
                <a:latin typeface="Microsoft YaHei" panose="020B0503020204020204" pitchFamily="34" charset="-122"/>
              </a:rPr>
              <a:t>D-pad </a:t>
            </a:r>
            <a:r>
              <a:rPr lang="zh-CN" altLang="en-US" sz="1100">
                <a:solidFill>
                  <a:srgbClr val="94A3B8"/>
                </a:solidFill>
                <a:latin typeface="Microsoft YaHei" panose="020B0503020204020204" pitchFamily="34" charset="-122"/>
              </a:rPr>
              <a:t>均可控制。支持暂停、音效、震动与本地最高分记录。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B9AC930-AA52-0F28-4C40-552FADACFA00}"/>
              </a:ext>
            </a:extLst>
          </p:cNvPr>
          <p:cNvSpPr txBox="1"/>
          <p:nvPr/>
        </p:nvSpPr>
        <p:spPr>
          <a:xfrm>
            <a:off x="736600" y="5816600"/>
            <a:ext cx="889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A3E635"/>
                </a:solidFill>
                <a:latin typeface="Microsoft YaHei" panose="020B0503020204020204" pitchFamily="34" charset="-122"/>
              </a:rPr>
              <a:t>轻量规则  </a:t>
            </a:r>
            <a:r>
              <a:rPr lang="en-US" altLang="zh-CN" sz="1200" b="1">
                <a:solidFill>
                  <a:srgbClr val="A3E635"/>
                </a:solidFill>
                <a:latin typeface="Microsoft YaHei" panose="020B0503020204020204" pitchFamily="34" charset="-122"/>
              </a:rPr>
              <a:t>·  </a:t>
            </a:r>
            <a:r>
              <a:rPr lang="zh-CN" altLang="en-US" sz="1200" b="1">
                <a:solidFill>
                  <a:srgbClr val="A3E635"/>
                </a:solidFill>
                <a:latin typeface="Microsoft YaHei" panose="020B0503020204020204" pitchFamily="34" charset="-122"/>
              </a:rPr>
              <a:t>渐进难度  </a:t>
            </a:r>
            <a:r>
              <a:rPr lang="en-US" altLang="zh-CN" sz="1200" b="1">
                <a:solidFill>
                  <a:srgbClr val="A3E635"/>
                </a:solidFill>
                <a:latin typeface="Microsoft YaHei" panose="020B0503020204020204" pitchFamily="34" charset="-122"/>
              </a:rPr>
              <a:t>·  </a:t>
            </a:r>
            <a:r>
              <a:rPr lang="zh-CN" altLang="en-US" sz="1200" b="1">
                <a:solidFill>
                  <a:srgbClr val="A3E635"/>
                </a:solidFill>
                <a:latin typeface="Microsoft YaHei" panose="020B0503020204020204" pitchFamily="34" charset="-122"/>
              </a:rPr>
              <a:t>多设备友好</a:t>
            </a:r>
          </a:p>
        </p:txBody>
      </p:sp>
    </p:spTree>
    <p:extLst>
      <p:ext uri="{BB962C8B-B14F-4D97-AF65-F5344CB8AC3E}">
        <p14:creationId xmlns:p14="http://schemas.microsoft.com/office/powerpoint/2010/main" val="1537925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9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51AC6E7-EF22-8C0F-6980-D7DCD53AF05F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5DCF930-7D73-5FC4-134D-74B481653B25}"/>
              </a:ext>
            </a:extLst>
          </p:cNvPr>
          <p:cNvSpPr/>
          <p:nvPr/>
        </p:nvSpPr>
        <p:spPr>
          <a:xfrm>
            <a:off x="736600" y="6261100"/>
            <a:ext cx="10718800" cy="12700"/>
          </a:xfrm>
          <a:prstGeom prst="rect">
            <a:avLst/>
          </a:prstGeom>
          <a:solidFill>
            <a:srgbClr val="28354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FAA31D4-DA70-CF8A-04C6-8673F0BCF633}"/>
              </a:ext>
            </a:extLst>
          </p:cNvPr>
          <p:cNvSpPr txBox="1"/>
          <p:nvPr/>
        </p:nvSpPr>
        <p:spPr>
          <a:xfrm>
            <a:off x="736600" y="6438900"/>
            <a:ext cx="508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800" b="1">
                <a:solidFill>
                  <a:srgbClr val="94A3B8"/>
                </a:solidFill>
                <a:latin typeface="Microsoft YaHei" panose="020B0503020204020204" pitchFamily="34" charset="-122"/>
              </a:rPr>
              <a:t>NEON SNAKE   /   </a:t>
            </a:r>
            <a:r>
              <a:rPr lang="zh-CN" altLang="en-US" sz="800" b="1">
                <a:solidFill>
                  <a:srgbClr val="94A3B8"/>
                </a:solidFill>
                <a:latin typeface="Microsoft YaHei" panose="020B0503020204020204" pitchFamily="34" charset="-122"/>
              </a:rPr>
              <a:t>为游戏而设计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A7DA042-D998-89C6-5B5D-5A642DAECCAA}"/>
              </a:ext>
            </a:extLst>
          </p:cNvPr>
          <p:cNvSpPr txBox="1"/>
          <p:nvPr/>
        </p:nvSpPr>
        <p:spPr>
          <a:xfrm>
            <a:off x="736600" y="533400"/>
            <a:ext cx="457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A3E635"/>
                </a:solidFill>
                <a:latin typeface="Microsoft YaHei" panose="020B0503020204020204" pitchFamily="34" charset="-122"/>
              </a:rPr>
              <a:t>02  /  </a:t>
            </a:r>
            <a:r>
              <a:rPr lang="zh-CN" altLang="en-US" sz="1000" b="1">
                <a:solidFill>
                  <a:srgbClr val="A3E635"/>
                </a:solidFill>
                <a:latin typeface="Microsoft YaHei" panose="020B0503020204020204" pitchFamily="34" charset="-122"/>
              </a:rPr>
              <a:t>为游戏而设计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9C0BC9E-8A23-37BE-74ED-C379445EB21D}"/>
              </a:ext>
            </a:extLst>
          </p:cNvPr>
          <p:cNvSpPr txBox="1"/>
          <p:nvPr/>
        </p:nvSpPr>
        <p:spPr>
          <a:xfrm>
            <a:off x="736600" y="927100"/>
            <a:ext cx="10668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300" b="1">
                <a:solidFill>
                  <a:srgbClr val="E2E2F0"/>
                </a:solidFill>
                <a:latin typeface="Microsoft YaHei" panose="020B0503020204020204" pitchFamily="34" charset="-122"/>
              </a:rPr>
              <a:t>小而完整：从视觉到交互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8F63418-05ED-AC8A-02C7-A4B09CF72528}"/>
              </a:ext>
            </a:extLst>
          </p:cNvPr>
          <p:cNvSpPr txBox="1"/>
          <p:nvPr/>
        </p:nvSpPr>
        <p:spPr>
          <a:xfrm>
            <a:off x="762000" y="1600200"/>
            <a:ext cx="10541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94A3B8"/>
                </a:solidFill>
                <a:latin typeface="Microsoft YaHei" panose="020B0503020204020204" pitchFamily="34" charset="-122"/>
              </a:rPr>
              <a:t>无需构建流程，打开浏览器即可运行；核心体验与辅助功能集成在同一个页面中。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E4D05548-2346-00B9-02DD-1A65C9978673}"/>
              </a:ext>
            </a:extLst>
          </p:cNvPr>
          <p:cNvSpPr/>
          <p:nvPr/>
        </p:nvSpPr>
        <p:spPr>
          <a:xfrm>
            <a:off x="736600" y="2413000"/>
            <a:ext cx="6350000" cy="3111500"/>
          </a:xfrm>
          <a:prstGeom prst="roundRect">
            <a:avLst/>
          </a:prstGeom>
          <a:solidFill>
            <a:srgbClr val="0F16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615E063-410E-01A0-D86C-86F812595FEE}"/>
              </a:ext>
            </a:extLst>
          </p:cNvPr>
          <p:cNvSpPr txBox="1"/>
          <p:nvPr/>
        </p:nvSpPr>
        <p:spPr>
          <a:xfrm>
            <a:off x="1041400" y="2679700"/>
            <a:ext cx="2540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E2E2F0"/>
                </a:solidFill>
                <a:latin typeface="Microsoft YaHei" panose="020B0503020204020204" pitchFamily="34" charset="-122"/>
              </a:rPr>
              <a:t>产品实现</a:t>
            </a:r>
            <a:endParaRPr lang="zh-CN" altLang="en-US" sz="1700" b="1">
              <a:solidFill>
                <a:srgbClr val="E2E2F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C92ADD8-5781-87C2-5329-388294713894}"/>
              </a:ext>
            </a:extLst>
          </p:cNvPr>
          <p:cNvSpPr txBox="1"/>
          <p:nvPr/>
        </p:nvSpPr>
        <p:spPr>
          <a:xfrm>
            <a:off x="1041400" y="3352800"/>
            <a:ext cx="40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A3E635"/>
                </a:solidFill>
                <a:latin typeface="Malgun Gothic" panose="020B0503020000020004" pitchFamily="34" charset="-127"/>
              </a:rPr>
              <a:t>01</a:t>
            </a:r>
            <a:endParaRPr lang="zh-CN" altLang="en-US" sz="1100" b="1">
              <a:solidFill>
                <a:srgbClr val="A3E635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010AB88-3BDE-18A5-8A51-CACBC98AB7C2}"/>
              </a:ext>
            </a:extLst>
          </p:cNvPr>
          <p:cNvSpPr txBox="1"/>
          <p:nvPr/>
        </p:nvSpPr>
        <p:spPr>
          <a:xfrm>
            <a:off x="1600200" y="3352800"/>
            <a:ext cx="4953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 b="1">
                <a:solidFill>
                  <a:srgbClr val="E2E2F0"/>
                </a:solidFill>
                <a:latin typeface="Microsoft YaHei" panose="020B0503020204020204" pitchFamily="34" charset="-122"/>
              </a:rPr>
              <a:t>单文件交付</a:t>
            </a:r>
            <a:endParaRPr lang="zh-CN" altLang="en-US" sz="1300" b="1">
              <a:solidFill>
                <a:srgbClr val="E2E2F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119ECC3-1732-3CE7-C717-93C6ABAE4082}"/>
              </a:ext>
            </a:extLst>
          </p:cNvPr>
          <p:cNvSpPr txBox="1"/>
          <p:nvPr/>
        </p:nvSpPr>
        <p:spPr>
          <a:xfrm>
            <a:off x="1600200" y="3657600"/>
            <a:ext cx="495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>
                <a:solidFill>
                  <a:srgbClr val="94A3B8"/>
                </a:solidFill>
                <a:latin typeface="Microsoft YaHei" panose="020B0503020204020204" pitchFamily="34" charset="-122"/>
              </a:rPr>
              <a:t>HTML / CSS / JavaScript </a:t>
            </a:r>
            <a:r>
              <a:rPr lang="zh-CN" altLang="en-US" sz="1000">
                <a:solidFill>
                  <a:srgbClr val="94A3B8"/>
                </a:solidFill>
                <a:latin typeface="Microsoft YaHei" panose="020B0503020204020204" pitchFamily="34" charset="-122"/>
              </a:rPr>
              <a:t>集成于 </a:t>
            </a:r>
            <a:r>
              <a:rPr lang="en-US" altLang="zh-CN" sz="1000">
                <a:solidFill>
                  <a:srgbClr val="94A3B8"/>
                </a:solidFill>
                <a:latin typeface="Microsoft YaHei" panose="020B0503020204020204" pitchFamily="34" charset="-122"/>
              </a:rPr>
              <a:t>index.html</a:t>
            </a:r>
            <a:endParaRPr lang="zh-CN" altLang="en-US" sz="1000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C3CFF13-7F02-50CC-6AE5-4CB9D5EE5D01}"/>
              </a:ext>
            </a:extLst>
          </p:cNvPr>
          <p:cNvSpPr txBox="1"/>
          <p:nvPr/>
        </p:nvSpPr>
        <p:spPr>
          <a:xfrm>
            <a:off x="1041400" y="4076700"/>
            <a:ext cx="40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A3E635"/>
                </a:solidFill>
                <a:latin typeface="Malgun Gothic" panose="020B0503020000020004" pitchFamily="34" charset="-127"/>
              </a:rPr>
              <a:t>02</a:t>
            </a:r>
            <a:endParaRPr lang="zh-CN" altLang="en-US" sz="1100" b="1">
              <a:solidFill>
                <a:srgbClr val="A3E635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234232D-739A-A825-F8DB-DDF88B5340E4}"/>
              </a:ext>
            </a:extLst>
          </p:cNvPr>
          <p:cNvSpPr txBox="1"/>
          <p:nvPr/>
        </p:nvSpPr>
        <p:spPr>
          <a:xfrm>
            <a:off x="1600200" y="4076700"/>
            <a:ext cx="4953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E2E2F0"/>
                </a:solidFill>
                <a:latin typeface="Microsoft YaHei" panose="020B0503020204020204" pitchFamily="34" charset="-122"/>
              </a:rPr>
              <a:t>Canvas </a:t>
            </a:r>
            <a:r>
              <a:rPr lang="zh-CN" altLang="en-US" sz="1300" b="1">
                <a:solidFill>
                  <a:srgbClr val="E2E2F0"/>
                </a:solidFill>
                <a:latin typeface="Microsoft YaHei" panose="020B0503020204020204" pitchFamily="34" charset="-122"/>
              </a:rPr>
              <a:t>游戏画面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310817C-44C0-5A52-5A33-DC9CBA741F0D}"/>
              </a:ext>
            </a:extLst>
          </p:cNvPr>
          <p:cNvSpPr txBox="1"/>
          <p:nvPr/>
        </p:nvSpPr>
        <p:spPr>
          <a:xfrm>
            <a:off x="1600200" y="4381500"/>
            <a:ext cx="495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000">
                <a:solidFill>
                  <a:srgbClr val="94A3B8"/>
                </a:solidFill>
                <a:latin typeface="Microsoft YaHei" panose="020B0503020204020204" pitchFamily="34" charset="-122"/>
              </a:rPr>
              <a:t>霓虹蛇身、网格、食物、怪物与粒子效果</a:t>
            </a:r>
            <a:endParaRPr lang="zh-CN" altLang="en-US" sz="1000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F2EF7E6-3FEE-C893-AC60-7A99D7639343}"/>
              </a:ext>
            </a:extLst>
          </p:cNvPr>
          <p:cNvSpPr txBox="1"/>
          <p:nvPr/>
        </p:nvSpPr>
        <p:spPr>
          <a:xfrm>
            <a:off x="1041400" y="4800600"/>
            <a:ext cx="40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A3E635"/>
                </a:solidFill>
                <a:latin typeface="Malgun Gothic" panose="020B0503020000020004" pitchFamily="34" charset="-127"/>
              </a:rPr>
              <a:t>03</a:t>
            </a:r>
            <a:endParaRPr lang="zh-CN" altLang="en-US" sz="1100" b="1">
              <a:solidFill>
                <a:srgbClr val="A3E635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C7E4D72-E000-EF2F-4A07-C209799A4480}"/>
              </a:ext>
            </a:extLst>
          </p:cNvPr>
          <p:cNvSpPr txBox="1"/>
          <p:nvPr/>
        </p:nvSpPr>
        <p:spPr>
          <a:xfrm>
            <a:off x="1600200" y="4800600"/>
            <a:ext cx="4953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E2E2F0"/>
                </a:solidFill>
                <a:latin typeface="Microsoft YaHei" panose="020B0503020204020204" pitchFamily="34" charset="-122"/>
              </a:rPr>
              <a:t>浏览器原生能力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E65DA95-D115-CF20-9D31-790614EF46C7}"/>
              </a:ext>
            </a:extLst>
          </p:cNvPr>
          <p:cNvSpPr txBox="1"/>
          <p:nvPr/>
        </p:nvSpPr>
        <p:spPr>
          <a:xfrm>
            <a:off x="1600200" y="5105400"/>
            <a:ext cx="495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94A3B8"/>
                </a:solidFill>
                <a:latin typeface="Microsoft YaHei" panose="020B0503020204020204" pitchFamily="34" charset="-122"/>
              </a:rPr>
              <a:t>WebAudio </a:t>
            </a:r>
            <a:r>
              <a:rPr lang="zh-CN" altLang="en-US" sz="1000">
                <a:solidFill>
                  <a:srgbClr val="94A3B8"/>
                </a:solidFill>
                <a:latin typeface="Microsoft YaHei" panose="020B0503020204020204" pitchFamily="34" charset="-122"/>
              </a:rPr>
              <a:t>音效 </a:t>
            </a:r>
            <a:r>
              <a:rPr lang="en-US" altLang="zh-CN" sz="1000">
                <a:solidFill>
                  <a:srgbClr val="94A3B8"/>
                </a:solidFill>
                <a:latin typeface="Microsoft YaHei" panose="020B0503020204020204" pitchFamily="34" charset="-122"/>
              </a:rPr>
              <a:t>+ </a:t>
            </a:r>
            <a:r>
              <a:rPr lang="en-US" altLang="ko-KR" sz="1000">
                <a:solidFill>
                  <a:srgbClr val="94A3B8"/>
                </a:solidFill>
                <a:latin typeface="Microsoft YaHei" panose="020B0503020204020204" pitchFamily="34" charset="-122"/>
              </a:rPr>
              <a:t>localStorage </a:t>
            </a:r>
            <a:r>
              <a:rPr lang="zh-CN" altLang="en-US" sz="1000">
                <a:solidFill>
                  <a:srgbClr val="94A3B8"/>
                </a:solidFill>
                <a:latin typeface="Microsoft YaHei" panose="020B0503020204020204" pitchFamily="34" charset="-122"/>
              </a:rPr>
              <a:t>最高分与设置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81040A60-BF58-8B59-3B09-DB5E6E44FA9A}"/>
              </a:ext>
            </a:extLst>
          </p:cNvPr>
          <p:cNvSpPr/>
          <p:nvPr/>
        </p:nvSpPr>
        <p:spPr>
          <a:xfrm>
            <a:off x="7416800" y="2413000"/>
            <a:ext cx="4038600" cy="3111500"/>
          </a:xfrm>
          <a:prstGeom prst="roundRect">
            <a:avLst/>
          </a:prstGeom>
          <a:solidFill>
            <a:srgbClr val="131D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9BD4639-735F-F7D2-250A-DF3BA9FC118A}"/>
              </a:ext>
            </a:extLst>
          </p:cNvPr>
          <p:cNvSpPr txBox="1"/>
          <p:nvPr/>
        </p:nvSpPr>
        <p:spPr>
          <a:xfrm>
            <a:off x="7721600" y="2679700"/>
            <a:ext cx="3175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E2E2F0"/>
                </a:solidFill>
                <a:latin typeface="Microsoft YaHei" panose="020B0503020204020204" pitchFamily="34" charset="-122"/>
              </a:rPr>
              <a:t>差异化体验</a:t>
            </a:r>
            <a:endParaRPr lang="zh-CN" altLang="en-US" sz="1700" b="1">
              <a:solidFill>
                <a:srgbClr val="E2E2F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C46157A-6C3B-91F4-ACF1-E1A2BD58E457}"/>
              </a:ext>
            </a:extLst>
          </p:cNvPr>
          <p:cNvSpPr txBox="1"/>
          <p:nvPr/>
        </p:nvSpPr>
        <p:spPr>
          <a:xfrm>
            <a:off x="7721600" y="3314700"/>
            <a:ext cx="342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22D3EE"/>
                </a:solidFill>
                <a:latin typeface="Microsoft YaHei" panose="020B0503020204020204" pitchFamily="34" charset="-122"/>
              </a:rPr>
              <a:t>🐱  会回应的猫咪助手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2E3BADA-1C2D-7BD1-82B6-7668FE8E9846}"/>
              </a:ext>
            </a:extLst>
          </p:cNvPr>
          <p:cNvSpPr txBox="1"/>
          <p:nvPr/>
        </p:nvSpPr>
        <p:spPr>
          <a:xfrm>
            <a:off x="7721600" y="3721100"/>
            <a:ext cx="3225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94A3B8"/>
                </a:solidFill>
                <a:latin typeface="Microsoft YaHei" panose="020B0503020204020204" pitchFamily="34" charset="-122"/>
              </a:rPr>
              <a:t>关键时刻表情与提示；可拖动、可调整语言和话痨程度。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ADD351E-BA56-9A3C-00A9-CA4D13473C37}"/>
              </a:ext>
            </a:extLst>
          </p:cNvPr>
          <p:cNvSpPr txBox="1"/>
          <p:nvPr/>
        </p:nvSpPr>
        <p:spPr>
          <a:xfrm>
            <a:off x="7721600" y="4470400"/>
            <a:ext cx="3175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A3E635"/>
                </a:solidFill>
                <a:latin typeface="Microsoft YaHei" panose="020B0503020204020204" pitchFamily="34" charset="-122"/>
              </a:rPr>
              <a:t>移动端优先支持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35EEC6E-1B0A-F931-4B52-B553795E7C8C}"/>
              </a:ext>
            </a:extLst>
          </p:cNvPr>
          <p:cNvSpPr txBox="1"/>
          <p:nvPr/>
        </p:nvSpPr>
        <p:spPr>
          <a:xfrm>
            <a:off x="7721600" y="4851400"/>
            <a:ext cx="3225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94A3B8"/>
                </a:solidFill>
                <a:latin typeface="Microsoft YaHei" panose="020B0503020204020204" pitchFamily="34" charset="-122"/>
              </a:rPr>
              <a:t>手机滑动 </a:t>
            </a:r>
            <a:r>
              <a:rPr lang="en-US" altLang="zh-CN" sz="1000">
                <a:solidFill>
                  <a:srgbClr val="94A3B8"/>
                </a:solidFill>
                <a:latin typeface="Microsoft YaHei" panose="020B0503020204020204" pitchFamily="34" charset="-122"/>
              </a:rPr>
              <a:t>/ D-pad / </a:t>
            </a:r>
            <a:r>
              <a:rPr lang="zh-CN" altLang="en-US" sz="1000">
                <a:solidFill>
                  <a:srgbClr val="94A3B8"/>
                </a:solidFill>
                <a:latin typeface="Microsoft YaHei" panose="020B0503020204020204" pitchFamily="34" charset="-122"/>
              </a:rPr>
              <a:t>震动反馈，适配不同玩法场景。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A838F51-9C29-A266-08FD-2A8EE3B03A85}"/>
              </a:ext>
            </a:extLst>
          </p:cNvPr>
          <p:cNvSpPr txBox="1"/>
          <p:nvPr/>
        </p:nvSpPr>
        <p:spPr>
          <a:xfrm>
            <a:off x="736600" y="5816600"/>
            <a:ext cx="6350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A3E635"/>
                </a:solidFill>
                <a:latin typeface="Microsoft YaHei" panose="020B0503020204020204" pitchFamily="34" charset="-122"/>
              </a:rPr>
              <a:t>打开 </a:t>
            </a:r>
            <a:r>
              <a:rPr lang="en-US" altLang="ko-KR" sz="1400" b="1">
                <a:solidFill>
                  <a:srgbClr val="A3E635"/>
                </a:solidFill>
                <a:latin typeface="Microsoft YaHei" panose="020B0503020204020204" pitchFamily="34" charset="-122"/>
              </a:rPr>
              <a:t>index.html  →  </a:t>
            </a:r>
            <a:r>
              <a:rPr lang="zh-CN" altLang="en-US" sz="1400" b="1">
                <a:solidFill>
                  <a:srgbClr val="A3E635"/>
                </a:solidFill>
                <a:latin typeface="Microsoft YaHei" panose="020B0503020204020204" pitchFamily="34" charset="-122"/>
              </a:rPr>
              <a:t>立即开始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698F101-C263-FD94-5144-D24CE9952CFF}"/>
              </a:ext>
            </a:extLst>
          </p:cNvPr>
          <p:cNvSpPr txBox="1"/>
          <p:nvPr/>
        </p:nvSpPr>
        <p:spPr>
          <a:xfrm>
            <a:off x="10160000" y="5867400"/>
            <a:ext cx="127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000" b="1">
                <a:solidFill>
                  <a:srgbClr val="94A3B8"/>
                </a:solidFill>
                <a:latin typeface="Microsoft YaHei" panose="020B0503020204020204" pitchFamily="34" charset="-122"/>
              </a:rPr>
              <a:t>谢谢观看</a:t>
            </a:r>
            <a:endParaRPr lang="zh-CN" altLang="en-US" sz="1000" b="1">
              <a:solidFill>
                <a:srgbClr val="94A3B8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17092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19" grpId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457</Words>
  <Application>Microsoft Office PowerPoint</Application>
  <PresentationFormat>宽屏</PresentationFormat>
  <Paragraphs>50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Malgun Gothic</vt:lpstr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主灵 徐</dc:creator>
  <cp:lastModifiedBy>主灵 徐</cp:lastModifiedBy>
  <cp:revision>3</cp:revision>
  <dcterms:created xsi:type="dcterms:W3CDTF">2026-10-21T04:55:17Z</dcterms:created>
  <dcterms:modified xsi:type="dcterms:W3CDTF">2026-10-21T05:03:57Z</dcterms:modified>
</cp:coreProperties>
</file>