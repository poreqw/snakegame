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9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15A50-2077-2E96-CFD9-9AD364A64A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5BF8CD-4291-E065-8063-2AA1B5F54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1561B2-7A94-58CC-272D-1292558AB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F5C702-F16D-3355-3F63-068FAF3E0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47913B-EF31-EFC6-C8E9-F38C482B6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86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734D0C-8CE2-A8A7-AC81-6F9912788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166EB1-D257-83CB-2825-165E2AAE0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92B41D-6732-CF8F-F729-2F5B94DC9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D3831-17F5-0FC1-1F4B-CB73FEA8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C086C2-43E4-5F9A-7BDE-0A41CCAC6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293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F68CAE-F062-8BD2-668F-60EDA4264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BF912E-2497-8A4D-479D-F33773186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AF79A6-C9D5-2EE0-7CED-BA83E237C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443F30-5EF1-4B26-8FA6-B020059E6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A8B988-BF8C-11AA-8D3A-147B9CD1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636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E8D23-0072-B333-9634-C35C7A10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C6F034-45BE-EC7D-D248-4D456F88FF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6F302-FA89-80E5-5DC6-F9581B6A7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C16DE6-3EBF-DEA9-D8C4-A3FCEBB03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7B784F-6120-0C13-3B5C-929E4868A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C1AA8C-10EB-CCEA-F0B5-38F62CE00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137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E74AB7-3176-B176-726C-45BE30677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110E79-CC17-5E2D-DD62-E49AC5E18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4042FC-FB72-82C9-32B9-47FDE4566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94B171-0E35-BB26-F7F7-6940240C2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318AB3-22E7-7EAB-5B14-4EF278618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E9A91D9-050C-D17B-CF14-102DBA23C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824EB35-C248-0916-70C4-A24982EE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CFE3D4-D087-D0DE-9919-9F8C53166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114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B4174B-9EC6-80A0-E6B2-E6CAEF829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130246-F50A-FC93-E60B-4E1F424B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B07EE5-68F6-C2A6-D25F-81632DDF8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D0A028-9A21-FAD6-3C2E-175D292E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82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2FE2A9-63EB-7A4F-881A-B122CCC9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9051F8C-D8F9-87BF-7205-DB214DA42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C6B95F-CDB3-C9F0-FB1A-9C0873309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590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FB5FB-FFF7-34B6-423B-CB97C8029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B7E17A-E72F-0A97-C913-025D9BDC4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744AA1-9924-F617-555E-C507AEAB2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C952D6-761A-F92F-394C-C66919A13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F3E855-9EB1-F04E-4CDE-4127C2176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FB5CF0-792E-E75B-1184-8E81943C4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20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503D1-089A-8E7A-6950-ED4A9C70C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0ED37C2-33C3-280E-F16C-6874773F7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9CA9B1-70D4-AD33-001C-7CA779816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964073-AE5D-D278-4726-D3B936D86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1AE0E1-1850-A9E5-0C18-16FA41435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027A37-9097-4094-E41B-49194450E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912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58B4A-2887-38DA-40E8-3B26AF068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CF2565-6957-A30C-44A2-8B013B1D1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042424-58C6-047D-C6B5-6D00D6BD7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E4CC7C-ABAF-FE64-4476-BC2ECB84E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95765B-C6A0-377C-3B33-2B7E6740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45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EDF5EB-2EA4-DA08-BA6E-4A69E1E20A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F10ED4-97EB-616E-1D44-D63616F3E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213B09-D4BF-F8E9-91FF-D02E98942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81FCD6-2F64-1DC6-0D08-514654FBD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256B33-B8CC-EC61-BFB6-B81BB88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933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02C06CE-8F1A-E3F3-9C95-0671FB79E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E27D04-A590-2604-7AE6-3321DD8D1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53D7EA-4B0A-2069-8AFB-6C904BF22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FD016-EE4E-9D4E-D264-C67002C98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742B89-422E-5487-D95E-B87A313E3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775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2357C73-0168-2230-42C5-EF98BCD68ABD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B3681C-C464-9C0B-95BD-7B131AC20617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6EF581-1638-A94C-3C0F-73955263653C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94A3B8"/>
                </a:solidFill>
                <a:latin typeface="Malgun Gothic" panose="020B0503020000020004" pitchFamily="34" charset="-127"/>
              </a:rPr>
              <a:t>NEON SNAKE   /   ONE MORE RUN</a:t>
            </a:r>
            <a:endParaRPr lang="zh-CN" altLang="en-US" sz="8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1D56D3-90B5-1797-0DF3-32ACD4855FCD}"/>
              </a:ext>
            </a:extLst>
          </p:cNvPr>
          <p:cNvSpPr txBox="1"/>
          <p:nvPr/>
        </p:nvSpPr>
        <p:spPr>
          <a:xfrm>
            <a:off x="1066800" y="660400"/>
            <a:ext cx="596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브라우저에서 바로 즐기는 미니 아케이드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6D4995-7E7E-BA8E-D1E2-F7D39E7A1DFF}"/>
              </a:ext>
            </a:extLst>
          </p:cNvPr>
          <p:cNvSpPr txBox="1"/>
          <p:nvPr/>
        </p:nvSpPr>
        <p:spPr>
          <a:xfrm>
            <a:off x="1041400" y="1244600"/>
            <a:ext cx="6350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먹고</a:t>
            </a:r>
            <a:r>
              <a:rPr lang="en-US" altLang="ko-KR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피하고</a:t>
            </a:r>
            <a:r>
              <a:rPr lang="en-US" altLang="ko-KR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기록을 깨는</a:t>
            </a:r>
          </a:p>
          <a:p>
            <a:r>
              <a:rPr lang="en-US" altLang="ko-KR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NEON SNAKE</a:t>
            </a:r>
            <a:endParaRPr lang="zh-CN" altLang="en-US" sz="30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8CFBFA-5E9A-BC53-381C-075C55C57A16}"/>
              </a:ext>
            </a:extLst>
          </p:cNvPr>
          <p:cNvSpPr txBox="1"/>
          <p:nvPr/>
        </p:nvSpPr>
        <p:spPr>
          <a:xfrm>
            <a:off x="1066800" y="2844800"/>
            <a:ext cx="5778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94A3B8"/>
                </a:solidFill>
                <a:latin typeface="Malgun Gothic" panose="020B0503020000020004" pitchFamily="34" charset="-127"/>
              </a:rPr>
              <a:t>짧고 선명한 플레이 루프에</a:t>
            </a:r>
          </a:p>
          <a:p>
            <a:r>
              <a:rPr lang="ko-KR" altLang="en-US" sz="1500">
                <a:solidFill>
                  <a:srgbClr val="94A3B8"/>
                </a:solidFill>
                <a:latin typeface="Malgun Gothic" panose="020B0503020000020004" pitchFamily="34" charset="-127"/>
              </a:rPr>
              <a:t>콤보의 손맛과 점점 커지는 긴장감을 더했습니다</a:t>
            </a:r>
            <a:r>
              <a:rPr lang="en-US" altLang="ko-KR" sz="15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5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62500FE-8425-F0ED-874B-C066A4F9A8E6}"/>
              </a:ext>
            </a:extLst>
          </p:cNvPr>
          <p:cNvSpPr/>
          <p:nvPr/>
        </p:nvSpPr>
        <p:spPr>
          <a:xfrm>
            <a:off x="1066800" y="4178300"/>
            <a:ext cx="1651000" cy="5080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09D3ED-CE63-F060-763E-E0B87A06558B}"/>
              </a:ext>
            </a:extLst>
          </p:cNvPr>
          <p:cNvSpPr txBox="1"/>
          <p:nvPr/>
        </p:nvSpPr>
        <p:spPr>
          <a:xfrm>
            <a:off x="1231900" y="4305300"/>
            <a:ext cx="1422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설치 없이 바로</a:t>
            </a:r>
            <a:endParaRPr lang="zh-CN" altLang="en-US" sz="11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BC42E9E-F3C2-8F65-1AD4-E231D6365F00}"/>
              </a:ext>
            </a:extLst>
          </p:cNvPr>
          <p:cNvSpPr/>
          <p:nvPr/>
        </p:nvSpPr>
        <p:spPr>
          <a:xfrm>
            <a:off x="2870200" y="4178300"/>
            <a:ext cx="1651000" cy="5080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8C1931-6A53-1E77-6A3F-CF7704A9B584}"/>
              </a:ext>
            </a:extLst>
          </p:cNvPr>
          <p:cNvSpPr txBox="1"/>
          <p:nvPr/>
        </p:nvSpPr>
        <p:spPr>
          <a:xfrm>
            <a:off x="3035300" y="4305300"/>
            <a:ext cx="1422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키보드 </a:t>
            </a:r>
            <a:r>
              <a:rPr lang="en-US" altLang="ko-KR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모바일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B3C6342-B4A8-5680-196F-8273CE016DFE}"/>
              </a:ext>
            </a:extLst>
          </p:cNvPr>
          <p:cNvSpPr/>
          <p:nvPr/>
        </p:nvSpPr>
        <p:spPr>
          <a:xfrm>
            <a:off x="4673600" y="4178300"/>
            <a:ext cx="2082800" cy="5080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63C5E77-5972-6DE5-A8C1-764AB5388CE5}"/>
              </a:ext>
            </a:extLst>
          </p:cNvPr>
          <p:cNvSpPr txBox="1"/>
          <p:nvPr/>
        </p:nvSpPr>
        <p:spPr>
          <a:xfrm>
            <a:off x="4838700" y="4305300"/>
            <a:ext cx="1828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F470B6"/>
                </a:solidFill>
                <a:latin typeface="Malgun Gothic" panose="020B0503020000020004" pitchFamily="34" charset="-127"/>
              </a:rPr>
              <a:t>나만의 최고 기록</a:t>
            </a:r>
            <a:endParaRPr lang="zh-CN" altLang="en-US" sz="11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F58C9E2-5A60-5D3E-7A0A-4A40DD435663}"/>
              </a:ext>
            </a:extLst>
          </p:cNvPr>
          <p:cNvSpPr/>
          <p:nvPr/>
        </p:nvSpPr>
        <p:spPr>
          <a:xfrm>
            <a:off x="7747000" y="889000"/>
            <a:ext cx="3606800" cy="45720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3548327-5954-B5B5-801C-15F78167975A}"/>
              </a:ext>
            </a:extLst>
          </p:cNvPr>
          <p:cNvSpPr txBox="1"/>
          <p:nvPr/>
        </p:nvSpPr>
        <p:spPr>
          <a:xfrm>
            <a:off x="8064500" y="1168400"/>
            <a:ext cx="292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94A3B8"/>
                </a:solidFill>
                <a:latin typeface="Malgun Gothic" panose="020B0503020000020004" pitchFamily="34" charset="-127"/>
              </a:rPr>
              <a:t>ONE MORE RUN</a:t>
            </a:r>
            <a:endParaRPr lang="zh-CN" altLang="en-US" sz="10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27B764F-8C4B-8905-8205-C7DC52635C8C}"/>
              </a:ext>
            </a:extLst>
          </p:cNvPr>
          <p:cNvSpPr/>
          <p:nvPr/>
        </p:nvSpPr>
        <p:spPr>
          <a:xfrm>
            <a:off x="8521700" y="1676400"/>
            <a:ext cx="12700" cy="34290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EB08300-BFDF-F811-7C20-9DC126E2CA7C}"/>
              </a:ext>
            </a:extLst>
          </p:cNvPr>
          <p:cNvSpPr/>
          <p:nvPr/>
        </p:nvSpPr>
        <p:spPr>
          <a:xfrm>
            <a:off x="8026400" y="22479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63B57BE-D6D9-CFD6-7226-756B608DAD6B}"/>
              </a:ext>
            </a:extLst>
          </p:cNvPr>
          <p:cNvSpPr/>
          <p:nvPr/>
        </p:nvSpPr>
        <p:spPr>
          <a:xfrm>
            <a:off x="9017000" y="1676400"/>
            <a:ext cx="12700" cy="34290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343764C-F529-7796-F2A7-9A4EF67115F5}"/>
              </a:ext>
            </a:extLst>
          </p:cNvPr>
          <p:cNvSpPr/>
          <p:nvPr/>
        </p:nvSpPr>
        <p:spPr>
          <a:xfrm>
            <a:off x="8026400" y="28194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94AE186-B105-9D34-3E29-07829875697A}"/>
              </a:ext>
            </a:extLst>
          </p:cNvPr>
          <p:cNvSpPr/>
          <p:nvPr/>
        </p:nvSpPr>
        <p:spPr>
          <a:xfrm>
            <a:off x="9512300" y="1676400"/>
            <a:ext cx="12700" cy="34290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3C60F52-D64C-55F5-0BB8-E0DCF4261CD3}"/>
              </a:ext>
            </a:extLst>
          </p:cNvPr>
          <p:cNvSpPr/>
          <p:nvPr/>
        </p:nvSpPr>
        <p:spPr>
          <a:xfrm>
            <a:off x="8026400" y="33909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8AB73C-628A-5646-45ED-DC8A61D39EED}"/>
              </a:ext>
            </a:extLst>
          </p:cNvPr>
          <p:cNvSpPr/>
          <p:nvPr/>
        </p:nvSpPr>
        <p:spPr>
          <a:xfrm>
            <a:off x="10007600" y="1676400"/>
            <a:ext cx="12700" cy="34290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1D936E-20E0-B06D-543C-01132BC7030E}"/>
              </a:ext>
            </a:extLst>
          </p:cNvPr>
          <p:cNvSpPr/>
          <p:nvPr/>
        </p:nvSpPr>
        <p:spPr>
          <a:xfrm>
            <a:off x="8026400" y="39624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FFE06DE-7206-4057-D4EF-22A073D3863B}"/>
              </a:ext>
            </a:extLst>
          </p:cNvPr>
          <p:cNvSpPr/>
          <p:nvPr/>
        </p:nvSpPr>
        <p:spPr>
          <a:xfrm>
            <a:off x="10502900" y="1676400"/>
            <a:ext cx="12700" cy="34290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3D6B2B-A6A4-EBD9-EC9C-32F2A86D05F9}"/>
              </a:ext>
            </a:extLst>
          </p:cNvPr>
          <p:cNvSpPr/>
          <p:nvPr/>
        </p:nvSpPr>
        <p:spPr>
          <a:xfrm>
            <a:off x="8026400" y="45339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82734ED-F0B8-FE90-7740-8B3C99C47497}"/>
              </a:ext>
            </a:extLst>
          </p:cNvPr>
          <p:cNvSpPr/>
          <p:nvPr/>
        </p:nvSpPr>
        <p:spPr>
          <a:xfrm>
            <a:off x="8953500" y="37338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BF68D15-752D-13BA-B267-E2DA3DDD8285}"/>
              </a:ext>
            </a:extLst>
          </p:cNvPr>
          <p:cNvSpPr/>
          <p:nvPr/>
        </p:nvSpPr>
        <p:spPr>
          <a:xfrm>
            <a:off x="9448800" y="37338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AEED8F1-706C-AC6B-0F10-3342BBA9F8CB}"/>
              </a:ext>
            </a:extLst>
          </p:cNvPr>
          <p:cNvSpPr/>
          <p:nvPr/>
        </p:nvSpPr>
        <p:spPr>
          <a:xfrm>
            <a:off x="9944100" y="37338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30A561C-0CEE-56EF-E626-B21141F2F316}"/>
              </a:ext>
            </a:extLst>
          </p:cNvPr>
          <p:cNvSpPr/>
          <p:nvPr/>
        </p:nvSpPr>
        <p:spPr>
          <a:xfrm>
            <a:off x="9944100" y="31623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0BB741-C012-E2C1-AE7D-18283A197C0F}"/>
              </a:ext>
            </a:extLst>
          </p:cNvPr>
          <p:cNvSpPr/>
          <p:nvPr/>
        </p:nvSpPr>
        <p:spPr>
          <a:xfrm>
            <a:off x="9944100" y="25908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B9BF16FE-04CA-5835-CDCE-7C87CEAF3B5F}"/>
              </a:ext>
            </a:extLst>
          </p:cNvPr>
          <p:cNvSpPr/>
          <p:nvPr/>
        </p:nvSpPr>
        <p:spPr>
          <a:xfrm>
            <a:off x="9944100" y="2590800"/>
            <a:ext cx="406400" cy="406400"/>
          </a:xfrm>
          <a:prstGeom prst="roundRect">
            <a:avLst/>
          </a:prstGeom>
          <a:solidFill>
            <a:srgbClr val="D0F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3EAAC987-195F-867F-DFB7-52E6D480C7F3}"/>
              </a:ext>
            </a:extLst>
          </p:cNvPr>
          <p:cNvSpPr/>
          <p:nvPr/>
        </p:nvSpPr>
        <p:spPr>
          <a:xfrm>
            <a:off x="8559800" y="2590800"/>
            <a:ext cx="254000" cy="254000"/>
          </a:xfrm>
          <a:prstGeom prst="ellipse">
            <a:avLst/>
          </a:prstGeom>
          <a:solidFill>
            <a:srgbClr val="F470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871C37F-B352-7051-8A78-A1E0A7FE7DCD}"/>
              </a:ext>
            </a:extLst>
          </p:cNvPr>
          <p:cNvSpPr txBox="1"/>
          <p:nvPr/>
        </p:nvSpPr>
        <p:spPr>
          <a:xfrm>
            <a:off x="8064500" y="5016500"/>
            <a:ext cx="304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E2E2F0"/>
                </a:solidFill>
                <a:latin typeface="Malgun Gothic" panose="020B0503020000020004" pitchFamily="34" charset="-127"/>
              </a:rPr>
              <a:t>EAT   →   GROW   →   GLOW</a:t>
            </a:r>
            <a:endParaRPr lang="zh-CN" altLang="en-US" sz="10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3C03952-1ED3-5C95-49AC-79197E0B4D59}"/>
              </a:ext>
            </a:extLst>
          </p:cNvPr>
          <p:cNvSpPr txBox="1"/>
          <p:nvPr/>
        </p:nvSpPr>
        <p:spPr>
          <a:xfrm>
            <a:off x="1066800" y="5892800"/>
            <a:ext cx="546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한 판 더 하고 싶어지는 네온 아케이드</a:t>
            </a:r>
            <a:endParaRPr lang="zh-CN" altLang="en-US" sz="11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478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4" grpId="0" animBg="1"/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5A1A55E-CA65-BD5C-1C02-105A971930ED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DB98E8-0061-FDEB-32F7-1F328B739515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6F70ED-B449-3086-E066-535F182DC474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94A3B8"/>
                </a:solidFill>
                <a:latin typeface="Malgun Gothic" panose="020B0503020000020004" pitchFamily="34" charset="-127"/>
              </a:rPr>
              <a:t>NEON SNAKE   /   THE GAME LOOP</a:t>
            </a:r>
            <a:endParaRPr lang="zh-CN" altLang="en-US" sz="8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F9E164-C6B6-C893-17CE-2ECC2EDBE8C6}"/>
              </a:ext>
            </a:extLst>
          </p:cNvPr>
          <p:cNvSpPr txBox="1"/>
          <p:nvPr/>
        </p:nvSpPr>
        <p:spPr>
          <a:xfrm>
            <a:off x="736600" y="5334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A3E635"/>
                </a:solidFill>
                <a:latin typeface="Malgun Gothic" panose="020B0503020000020004" pitchFamily="34" charset="-127"/>
              </a:rPr>
              <a:t>01  /  THE GAME LOOP</a:t>
            </a:r>
            <a:endParaRPr lang="zh-CN" altLang="en-US" sz="10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D1E5CA-F0BE-07AF-9318-FAD87B2FD920}"/>
              </a:ext>
            </a:extLst>
          </p:cNvPr>
          <p:cNvSpPr txBox="1"/>
          <p:nvPr/>
        </p:nvSpPr>
        <p:spPr>
          <a:xfrm>
            <a:off x="736600" y="927100"/>
            <a:ext cx="10541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600" b="1">
                <a:solidFill>
                  <a:srgbClr val="E2E2F0"/>
                </a:solidFill>
                <a:latin typeface="Malgun Gothic" panose="020B0503020000020004" pitchFamily="34" charset="-127"/>
              </a:rPr>
              <a:t>한입은 가볍게</a:t>
            </a:r>
            <a:r>
              <a:rPr lang="en-US" altLang="ko-KR" sz="2600" b="1">
                <a:solidFill>
                  <a:srgbClr val="E2E2F0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2600" b="1">
                <a:solidFill>
                  <a:srgbClr val="E2E2F0"/>
                </a:solidFill>
                <a:latin typeface="Malgun Gothic" panose="020B0503020000020004" pitchFamily="34" charset="-127"/>
              </a:rPr>
              <a:t>도전은 점점 뜨겁게</a:t>
            </a:r>
            <a:endParaRPr lang="zh-CN" altLang="en-US" sz="26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083C5F-6FC9-7FAB-F7B9-9DC290EE1DD0}"/>
              </a:ext>
            </a:extLst>
          </p:cNvPr>
          <p:cNvSpPr txBox="1"/>
          <p:nvPr/>
        </p:nvSpPr>
        <p:spPr>
          <a:xfrm>
            <a:off x="762000" y="1600200"/>
            <a:ext cx="1041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94A3B8"/>
                </a:solidFill>
                <a:latin typeface="Malgun Gothic" panose="020B0503020000020004" pitchFamily="34" charset="-127"/>
              </a:rPr>
              <a:t>먹이 하나에서 시작해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300">
                <a:solidFill>
                  <a:srgbClr val="94A3B8"/>
                </a:solidFill>
                <a:latin typeface="Malgun Gothic" panose="020B0503020000020004" pitchFamily="34" charset="-127"/>
              </a:rPr>
              <a:t>콤보와 속도 그리고 몬스터가 한 판의 긴장감을 키웁니다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3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71C0530-CEDE-BB14-0C0E-F69560894CF8}"/>
              </a:ext>
            </a:extLst>
          </p:cNvPr>
          <p:cNvSpPr/>
          <p:nvPr/>
        </p:nvSpPr>
        <p:spPr>
          <a:xfrm>
            <a:off x="736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680C933-FDC6-7011-A8CC-1938D7F9E370}"/>
              </a:ext>
            </a:extLst>
          </p:cNvPr>
          <p:cNvSpPr/>
          <p:nvPr/>
        </p:nvSpPr>
        <p:spPr>
          <a:xfrm>
            <a:off x="4419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2836708-949B-AE94-F446-3B04379DD126}"/>
              </a:ext>
            </a:extLst>
          </p:cNvPr>
          <p:cNvSpPr/>
          <p:nvPr/>
        </p:nvSpPr>
        <p:spPr>
          <a:xfrm>
            <a:off x="8102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F6EF1ED-6E40-766A-9D61-520DB7AA8841}"/>
              </a:ext>
            </a:extLst>
          </p:cNvPr>
          <p:cNvSpPr txBox="1"/>
          <p:nvPr/>
        </p:nvSpPr>
        <p:spPr>
          <a:xfrm>
            <a:off x="1016000" y="26797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01  /  </a:t>
            </a:r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성장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B17103-D31F-335B-F348-EE23340F9B77}"/>
              </a:ext>
            </a:extLst>
          </p:cNvPr>
          <p:cNvSpPr txBox="1"/>
          <p:nvPr/>
        </p:nvSpPr>
        <p:spPr>
          <a:xfrm>
            <a:off x="1016000" y="3200400"/>
            <a:ext cx="285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algun Gothic" panose="020B0503020000020004" pitchFamily="34" charset="-127"/>
              </a:rPr>
              <a:t>먹을수록 길어지는 뱀</a:t>
            </a:r>
            <a:endParaRPr lang="zh-CN" altLang="en-US" sz="17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D40B57-D49E-4C81-16E9-F9A4C373550E}"/>
              </a:ext>
            </a:extLst>
          </p:cNvPr>
          <p:cNvSpPr txBox="1"/>
          <p:nvPr/>
        </p:nvSpPr>
        <p:spPr>
          <a:xfrm>
            <a:off x="1016000" y="38227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22D3EE"/>
                </a:solidFill>
                <a:latin typeface="Malgun Gothic" panose="020B0503020000020004" pitchFamily="34" charset="-127"/>
              </a:rPr>
              <a:t>🍩  🍕  🧋  🍓  💎  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6F7CEAB-262C-6E5B-DA61-ABC901A6D693}"/>
              </a:ext>
            </a:extLst>
          </p:cNvPr>
          <p:cNvSpPr txBox="1"/>
          <p:nvPr/>
        </p:nvSpPr>
        <p:spPr>
          <a:xfrm>
            <a:off x="1016000" y="43942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먹이를 먹으면 점수와 몸길이가 늘어납니다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안전한 경로를 만들며 다음 먹이를 노려보세요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1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CDC17D0-5081-8A5C-D4AE-252034A3F68B}"/>
              </a:ext>
            </a:extLst>
          </p:cNvPr>
          <p:cNvSpPr txBox="1"/>
          <p:nvPr/>
        </p:nvSpPr>
        <p:spPr>
          <a:xfrm>
            <a:off x="4699000" y="26797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02  /  </a:t>
            </a:r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콤보</a:t>
            </a:r>
            <a:endParaRPr lang="zh-CN" altLang="en-US" sz="11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1E56B6C-F070-30CB-2B3C-772F4BD3D099}"/>
              </a:ext>
            </a:extLst>
          </p:cNvPr>
          <p:cNvSpPr txBox="1"/>
          <p:nvPr/>
        </p:nvSpPr>
        <p:spPr>
          <a:xfrm>
            <a:off x="4699000" y="3200400"/>
            <a:ext cx="285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algun Gothic" panose="020B0503020000020004" pitchFamily="34" charset="-127"/>
              </a:rPr>
              <a:t>끊기 전에 한 번 더</a:t>
            </a:r>
            <a:r>
              <a:rPr lang="en-US" altLang="ko-KR" sz="1700" b="1">
                <a:solidFill>
                  <a:srgbClr val="E2E2F0"/>
                </a:solidFill>
                <a:latin typeface="Malgun Gothic" panose="020B0503020000020004" pitchFamily="34" charset="-127"/>
              </a:rPr>
              <a:t>!</a:t>
            </a:r>
            <a:endParaRPr lang="zh-CN" altLang="en-US" sz="17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387AB84-63B4-EE3D-5181-D8B32709531D}"/>
              </a:ext>
            </a:extLst>
          </p:cNvPr>
          <p:cNvSpPr txBox="1"/>
          <p:nvPr/>
        </p:nvSpPr>
        <p:spPr>
          <a:xfrm>
            <a:off x="4699000" y="38227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F470B6"/>
                </a:solidFill>
                <a:latin typeface="Malgun Gothic" panose="020B0503020000020004" pitchFamily="34" charset="-127"/>
              </a:rPr>
              <a:t>2.6</a:t>
            </a:r>
            <a:r>
              <a:rPr lang="ko-KR" altLang="en-US" sz="1400" b="1">
                <a:solidFill>
                  <a:srgbClr val="F470B6"/>
                </a:solidFill>
                <a:latin typeface="Malgun Gothic" panose="020B0503020000020004" pitchFamily="34" charset="-127"/>
              </a:rPr>
              <a:t>초 </a:t>
            </a:r>
            <a:r>
              <a:rPr lang="en-US" altLang="ko-KR" sz="1400" b="1">
                <a:solidFill>
                  <a:srgbClr val="F470B6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400" b="1">
                <a:solidFill>
                  <a:srgbClr val="F470B6"/>
                </a:solidFill>
                <a:latin typeface="Malgun Gothic" panose="020B0503020000020004" pitchFamily="34" charset="-127"/>
              </a:rPr>
              <a:t>최대 </a:t>
            </a:r>
            <a:r>
              <a:rPr lang="en-US" altLang="zh-CN" sz="1400" b="1">
                <a:solidFill>
                  <a:srgbClr val="F470B6"/>
                </a:solidFill>
                <a:latin typeface="Malgun Gothic" panose="020B0503020000020004" pitchFamily="34" charset="-127"/>
              </a:rPr>
              <a:t>x5</a:t>
            </a:r>
            <a:endParaRPr lang="zh-CN" altLang="en-US" sz="14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393CBC2-98EB-05C3-A417-0788F1352A3D}"/>
              </a:ext>
            </a:extLst>
          </p:cNvPr>
          <p:cNvSpPr txBox="1"/>
          <p:nvPr/>
        </p:nvSpPr>
        <p:spPr>
          <a:xfrm>
            <a:off x="4699000" y="43688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2.6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초 안에 연속으로 먹으면 콤보가 올라갑니다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최고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x5,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한 번에 최대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50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점까지 노려보세요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1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1B8D63-5445-8091-7EB0-DDB4AF1B50A1}"/>
              </a:ext>
            </a:extLst>
          </p:cNvPr>
          <p:cNvSpPr txBox="1"/>
          <p:nvPr/>
        </p:nvSpPr>
        <p:spPr>
          <a:xfrm>
            <a:off x="8382000" y="26797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F470B6"/>
                </a:solidFill>
                <a:latin typeface="Malgun Gothic" panose="020B0503020000020004" pitchFamily="34" charset="-127"/>
              </a:rPr>
              <a:t>03  /  </a:t>
            </a:r>
            <a:r>
              <a:rPr lang="ko-KR" altLang="en-US" sz="1100" b="1">
                <a:solidFill>
                  <a:srgbClr val="F470B6"/>
                </a:solidFill>
                <a:latin typeface="Malgun Gothic" panose="020B0503020000020004" pitchFamily="34" charset="-127"/>
              </a:rPr>
              <a:t>긴장</a:t>
            </a:r>
            <a:endParaRPr lang="zh-CN" altLang="en-US" sz="11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6ED3232-93D1-343A-D3A7-07C0E64CBAEF}"/>
              </a:ext>
            </a:extLst>
          </p:cNvPr>
          <p:cNvSpPr txBox="1"/>
          <p:nvPr/>
        </p:nvSpPr>
        <p:spPr>
          <a:xfrm>
            <a:off x="8382000" y="3200400"/>
            <a:ext cx="2857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E2E2F0"/>
                </a:solidFill>
                <a:latin typeface="Malgun Gothic" panose="020B0503020000020004" pitchFamily="34" charset="-127"/>
              </a:rPr>
              <a:t>속도와 몬스터의 압박</a:t>
            </a:r>
            <a:endParaRPr lang="zh-CN" altLang="en-US" sz="16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72E4937-8C46-7094-E52F-61872642FCD4}"/>
              </a:ext>
            </a:extLst>
          </p:cNvPr>
          <p:cNvSpPr txBox="1"/>
          <p:nvPr/>
        </p:nvSpPr>
        <p:spPr>
          <a:xfrm>
            <a:off x="8382000" y="3822700"/>
            <a:ext cx="285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100</a:t>
            </a:r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점부터 등장 </a:t>
            </a:r>
            <a:r>
              <a:rPr lang="en-US" altLang="ko-KR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최대 </a:t>
            </a:r>
            <a:r>
              <a:rPr lang="en-US" altLang="ko-KR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3</a:t>
            </a:r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마리</a:t>
            </a:r>
            <a:endParaRPr lang="zh-CN" altLang="en-US" sz="11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B8F652-77A4-F379-0679-64A86AD016C1}"/>
              </a:ext>
            </a:extLst>
          </p:cNvPr>
          <p:cNvSpPr txBox="1"/>
          <p:nvPr/>
        </p:nvSpPr>
        <p:spPr>
          <a:xfrm>
            <a:off x="8382000" y="43688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점수가 오를수록 속도가 빨라집니다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몬스터는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100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점부터 등장하고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, 100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점마다 늘어 최대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3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마리까지 쫓아옵니다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1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030F30E-3DD5-8417-E253-01EF63303125}"/>
              </a:ext>
            </a:extLst>
          </p:cNvPr>
          <p:cNvSpPr txBox="1"/>
          <p:nvPr/>
        </p:nvSpPr>
        <p:spPr>
          <a:xfrm>
            <a:off x="736600" y="58166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자기 몸</a:t>
            </a:r>
            <a:r>
              <a:rPr lang="en-US" altLang="ko-KR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몬스터에 닿으면 몸이 줄고 계속 플레이  </a:t>
            </a:r>
            <a:r>
              <a:rPr lang="en-US" altLang="ko-KR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/  </a:t>
            </a:r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벽에 닿으면 게임 종료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187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1003B83-F256-7F5D-EDA9-E4535DB05A00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FCEE35-146A-6FC1-852C-AF76DF04AE0A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0FB40F-B8C9-9816-306C-41E22C865047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94A3B8"/>
                </a:solidFill>
                <a:latin typeface="Malgun Gothic" panose="020B0503020000020004" pitchFamily="34" charset="-127"/>
              </a:rPr>
              <a:t>NEON SNAKE   /   EASY TO START</a:t>
            </a:r>
            <a:endParaRPr lang="zh-CN" altLang="en-US" sz="8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3D2918-A3E1-5334-C3D3-A4B889D67AE1}"/>
              </a:ext>
            </a:extLst>
          </p:cNvPr>
          <p:cNvSpPr txBox="1"/>
          <p:nvPr/>
        </p:nvSpPr>
        <p:spPr>
          <a:xfrm>
            <a:off x="736600" y="533400"/>
            <a:ext cx="419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A3E635"/>
                </a:solidFill>
                <a:latin typeface="Malgun Gothic" panose="020B0503020000020004" pitchFamily="34" charset="-127"/>
              </a:rPr>
              <a:t>02  /  WHAT MAKES IT DIFFERENT</a:t>
            </a:r>
            <a:endParaRPr lang="zh-CN" altLang="en-US" sz="10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844E51-2754-E8B4-A6C6-4E6D2F50C40F}"/>
              </a:ext>
            </a:extLst>
          </p:cNvPr>
          <p:cNvSpPr txBox="1"/>
          <p:nvPr/>
        </p:nvSpPr>
        <p:spPr>
          <a:xfrm>
            <a:off x="736600" y="927100"/>
            <a:ext cx="10541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E2E2F0"/>
                </a:solidFill>
                <a:latin typeface="Malgun Gothic" panose="020B0503020000020004" pitchFamily="34" charset="-127"/>
              </a:rPr>
              <a:t>익숙한 규칙 위에</a:t>
            </a:r>
            <a:r>
              <a:rPr lang="en-US" altLang="ko-KR" sz="2300" b="1">
                <a:solidFill>
                  <a:srgbClr val="E2E2F0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2300" b="1">
                <a:solidFill>
                  <a:srgbClr val="E2E2F0"/>
                </a:solidFill>
                <a:latin typeface="Malgun Gothic" panose="020B0503020000020004" pitchFamily="34" charset="-127"/>
              </a:rPr>
              <a:t>새로운 긴장감과 동료를</a:t>
            </a:r>
            <a:endParaRPr lang="zh-CN" altLang="en-US" sz="23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AD1620-D977-D27D-1555-435439710AA6}"/>
              </a:ext>
            </a:extLst>
          </p:cNvPr>
          <p:cNvSpPr txBox="1"/>
          <p:nvPr/>
        </p:nvSpPr>
        <p:spPr>
          <a:xfrm>
            <a:off x="762000" y="1600200"/>
            <a:ext cx="1028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94A3B8"/>
                </a:solidFill>
                <a:latin typeface="Malgun Gothic" panose="020B0503020000020004" pitchFamily="34" charset="-127"/>
              </a:rPr>
              <a:t>콤보 타이밍</a:t>
            </a:r>
            <a:r>
              <a:rPr lang="en-US" altLang="ko-KR" sz="12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200">
                <a:solidFill>
                  <a:srgbClr val="94A3B8"/>
                </a:solidFill>
                <a:latin typeface="Malgun Gothic" panose="020B0503020000020004" pitchFamily="34" charset="-127"/>
              </a:rPr>
              <a:t>움직이는 몬스터</a:t>
            </a:r>
            <a:r>
              <a:rPr lang="en-US" altLang="ko-KR" sz="12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200">
                <a:solidFill>
                  <a:srgbClr val="94A3B8"/>
                </a:solidFill>
                <a:latin typeface="Malgun Gothic" panose="020B0503020000020004" pitchFamily="34" charset="-127"/>
              </a:rPr>
              <a:t>플레이에 반응하는 고양이 도우미를 더했습니다</a:t>
            </a:r>
            <a:r>
              <a:rPr lang="en-US" altLang="ko-KR" sz="12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2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7B6C0EF-58B0-DE85-87A7-6D46D322D42A}"/>
              </a:ext>
            </a:extLst>
          </p:cNvPr>
          <p:cNvSpPr/>
          <p:nvPr/>
        </p:nvSpPr>
        <p:spPr>
          <a:xfrm>
            <a:off x="736600" y="2413000"/>
            <a:ext cx="63500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39DF5C0-502B-026E-C518-034F5CDCFE7C}"/>
              </a:ext>
            </a:extLst>
          </p:cNvPr>
          <p:cNvSpPr txBox="1"/>
          <p:nvPr/>
        </p:nvSpPr>
        <p:spPr>
          <a:xfrm>
            <a:off x="1041400" y="2679700"/>
            <a:ext cx="508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E2E2F0"/>
                </a:solidFill>
                <a:latin typeface="Malgun Gothic" panose="020B0503020000020004" pitchFamily="34" charset="-127"/>
              </a:rPr>
              <a:t>NEON SNAKE</a:t>
            </a:r>
            <a:r>
              <a:rPr lang="ko-KR" altLang="en-US" sz="1600" b="1">
                <a:solidFill>
                  <a:srgbClr val="E2E2F0"/>
                </a:solidFill>
                <a:latin typeface="Malgun Gothic" panose="020B0503020000020004" pitchFamily="34" charset="-127"/>
              </a:rPr>
              <a:t>만의 차별점</a:t>
            </a:r>
            <a:endParaRPr lang="zh-CN" altLang="en-US" sz="16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AA5B68E-E918-E2F4-2274-353FF383CDFA}"/>
              </a:ext>
            </a:extLst>
          </p:cNvPr>
          <p:cNvSpPr txBox="1"/>
          <p:nvPr/>
        </p:nvSpPr>
        <p:spPr>
          <a:xfrm>
            <a:off x="1041400" y="33528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01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CC59E6-DB14-17FD-0744-83D421175B5D}"/>
              </a:ext>
            </a:extLst>
          </p:cNvPr>
          <p:cNvSpPr txBox="1"/>
          <p:nvPr/>
        </p:nvSpPr>
        <p:spPr>
          <a:xfrm>
            <a:off x="1600200" y="3352800"/>
            <a:ext cx="495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E2E2F0"/>
                </a:solidFill>
                <a:latin typeface="Malgun Gothic" panose="020B0503020000020004" pitchFamily="34" charset="-127"/>
              </a:rPr>
              <a:t>콤보에 시간 압박을 더하다</a:t>
            </a:r>
            <a:endParaRPr lang="zh-CN" altLang="en-US" sz="12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FEE219-2462-09E4-54BB-258D230AF2BF}"/>
              </a:ext>
            </a:extLst>
          </p:cNvPr>
          <p:cNvSpPr txBox="1"/>
          <p:nvPr/>
        </p:nvSpPr>
        <p:spPr>
          <a:xfrm>
            <a:off x="1600200" y="36703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2.6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초 안에 다시 먹기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최대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x5,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한 번에 최대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50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점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1C8097A-82AA-97C9-E2FF-9AC028A632D1}"/>
              </a:ext>
            </a:extLst>
          </p:cNvPr>
          <p:cNvSpPr txBox="1"/>
          <p:nvPr/>
        </p:nvSpPr>
        <p:spPr>
          <a:xfrm>
            <a:off x="1041400" y="41529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02</a:t>
            </a:r>
            <a:endParaRPr lang="zh-CN" altLang="en-US" sz="11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88B10BE-0685-EB78-28C0-DD563EFB7EDD}"/>
              </a:ext>
            </a:extLst>
          </p:cNvPr>
          <p:cNvSpPr txBox="1"/>
          <p:nvPr/>
        </p:nvSpPr>
        <p:spPr>
          <a:xfrm>
            <a:off x="1600200" y="4152900"/>
            <a:ext cx="495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E2E2F0"/>
                </a:solidFill>
                <a:latin typeface="Malgun Gothic" panose="020B0503020000020004" pitchFamily="34" charset="-127"/>
              </a:rPr>
              <a:t>움직이는 몬스터가 긴장감을 높이다</a:t>
            </a:r>
            <a:endParaRPr lang="zh-CN" altLang="en-US" sz="12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349FB1-0E21-731F-9683-703CCFBC1F60}"/>
              </a:ext>
            </a:extLst>
          </p:cNvPr>
          <p:cNvSpPr txBox="1"/>
          <p:nvPr/>
        </p:nvSpPr>
        <p:spPr>
          <a:xfrm>
            <a:off x="1600200" y="44704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100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점부터 출현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 100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점마다 추가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최대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3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마리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0AA4C5E-9389-5116-E6B8-01EBC4D7FC75}"/>
              </a:ext>
            </a:extLst>
          </p:cNvPr>
          <p:cNvSpPr txBox="1"/>
          <p:nvPr/>
        </p:nvSpPr>
        <p:spPr>
          <a:xfrm>
            <a:off x="1041400" y="49530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F470B6"/>
                </a:solidFill>
                <a:latin typeface="Malgun Gothic" panose="020B0503020000020004" pitchFamily="34" charset="-127"/>
              </a:rPr>
              <a:t>03</a:t>
            </a:r>
            <a:endParaRPr lang="zh-CN" altLang="en-US" sz="11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EAE0D8-E5D2-27EC-9AE5-C93BC2F47461}"/>
              </a:ext>
            </a:extLst>
          </p:cNvPr>
          <p:cNvSpPr txBox="1"/>
          <p:nvPr/>
        </p:nvSpPr>
        <p:spPr>
          <a:xfrm>
            <a:off x="1600200" y="4953000"/>
            <a:ext cx="495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E2E2F0"/>
                </a:solidFill>
                <a:latin typeface="Malgun Gothic" panose="020B0503020000020004" pitchFamily="34" charset="-127"/>
              </a:rPr>
              <a:t>충돌해도 한 번 더 기회</a:t>
            </a:r>
            <a:endParaRPr lang="zh-CN" altLang="en-US" sz="12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27FA953-1B4D-1582-450C-5BA843692E27}"/>
              </a:ext>
            </a:extLst>
          </p:cNvPr>
          <p:cNvSpPr txBox="1"/>
          <p:nvPr/>
        </p:nvSpPr>
        <p:spPr>
          <a:xfrm>
            <a:off x="1600200" y="5270500"/>
            <a:ext cx="4953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94A3B8"/>
                </a:solidFill>
                <a:latin typeface="Malgun Gothic" panose="020B0503020000020004" pitchFamily="34" charset="-127"/>
              </a:rPr>
              <a:t>몸</a:t>
            </a:r>
            <a:r>
              <a:rPr lang="en-US" altLang="ko-KR" sz="95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950">
                <a:solidFill>
                  <a:srgbClr val="94A3B8"/>
                </a:solidFill>
                <a:latin typeface="Malgun Gothic" panose="020B0503020000020004" pitchFamily="34" charset="-127"/>
              </a:rPr>
              <a:t>몬스터 충돌은 몸이 줄고 계속 </a:t>
            </a:r>
            <a:r>
              <a:rPr lang="en-US" altLang="ko-KR" sz="950">
                <a:solidFill>
                  <a:srgbClr val="94A3B8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950">
                <a:solidFill>
                  <a:srgbClr val="94A3B8"/>
                </a:solidFill>
                <a:latin typeface="Malgun Gothic" panose="020B0503020000020004" pitchFamily="34" charset="-127"/>
              </a:rPr>
              <a:t>벽 충돌은 게임 종료</a:t>
            </a:r>
            <a:endParaRPr lang="zh-CN" altLang="en-US" sz="95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432710A-A91B-B2CB-5BBC-1D1FAD65C842}"/>
              </a:ext>
            </a:extLst>
          </p:cNvPr>
          <p:cNvSpPr/>
          <p:nvPr/>
        </p:nvSpPr>
        <p:spPr>
          <a:xfrm>
            <a:off x="7416800" y="2413000"/>
            <a:ext cx="4038600" cy="30226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708BB4B-9613-5AB9-B090-E1A360A39FB9}"/>
              </a:ext>
            </a:extLst>
          </p:cNvPr>
          <p:cNvSpPr txBox="1"/>
          <p:nvPr/>
        </p:nvSpPr>
        <p:spPr>
          <a:xfrm>
            <a:off x="7721600" y="2679700"/>
            <a:ext cx="342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E2E2F0"/>
                </a:solidFill>
                <a:latin typeface="Malgun Gothic" panose="020B0503020000020004" pitchFamily="34" charset="-127"/>
              </a:rPr>
              <a:t>🐱  플레이에 함께하는 고양이</a:t>
            </a:r>
            <a:endParaRPr lang="zh-CN" altLang="en-US" sz="15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8A41E99-0DC5-5B7E-3148-3BB6827BF4C5}"/>
              </a:ext>
            </a:extLst>
          </p:cNvPr>
          <p:cNvSpPr txBox="1"/>
          <p:nvPr/>
        </p:nvSpPr>
        <p:spPr>
          <a:xfrm>
            <a:off x="7721600" y="3213099"/>
            <a:ext cx="3225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22D3EE"/>
                </a:solidFill>
                <a:latin typeface="Malgun Gothic" panose="020B0503020000020004" pitchFamily="34" charset="-127"/>
              </a:rPr>
              <a:t>플레이 반응</a:t>
            </a:r>
            <a:endParaRPr lang="zh-CN" altLang="en-US" sz="1100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C0421A-F944-1679-1369-0F605F893B04}"/>
              </a:ext>
            </a:extLst>
          </p:cNvPr>
          <p:cNvSpPr txBox="1"/>
          <p:nvPr/>
        </p:nvSpPr>
        <p:spPr>
          <a:xfrm>
            <a:off x="7721600" y="3911599"/>
            <a:ext cx="3225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A3E635"/>
                </a:solidFill>
                <a:latin typeface="Malgun Gothic" panose="020B0503020000020004" pitchFamily="34" charset="-127"/>
              </a:rPr>
              <a:t>실시간 팁</a:t>
            </a:r>
            <a:endParaRPr lang="zh-CN" altLang="en-US" sz="1100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F3499B7-0AFA-89B8-F852-1B76377E1BC4}"/>
              </a:ext>
            </a:extLst>
          </p:cNvPr>
          <p:cNvSpPr txBox="1"/>
          <p:nvPr/>
        </p:nvSpPr>
        <p:spPr>
          <a:xfrm>
            <a:off x="7721600" y="4610099"/>
            <a:ext cx="3225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F470B6"/>
                </a:solidFill>
                <a:latin typeface="Malgun Gothic" panose="020B0503020000020004" pitchFamily="34" charset="-127"/>
              </a:rPr>
              <a:t>내 스타일로 설정</a:t>
            </a:r>
            <a:endParaRPr lang="zh-CN" altLang="en-US" sz="11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0A07426-5E50-A12F-28AB-C21B2348AF5F}"/>
              </a:ext>
            </a:extLst>
          </p:cNvPr>
          <p:cNvSpPr txBox="1"/>
          <p:nvPr/>
        </p:nvSpPr>
        <p:spPr>
          <a:xfrm>
            <a:off x="736600" y="5816599"/>
            <a:ext cx="533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A3E635"/>
                </a:solidFill>
                <a:latin typeface="Malgun Gothic" panose="020B0503020000020004" pitchFamily="34" charset="-127"/>
              </a:rPr>
              <a:t>지금 바로 시작해 보세요</a:t>
            </a:r>
            <a:endParaRPr lang="zh-CN" altLang="en-US" sz="16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A44C778-D76D-DC7C-C052-1BE8AFB84FC9}"/>
              </a:ext>
            </a:extLst>
          </p:cNvPr>
          <p:cNvSpPr txBox="1"/>
          <p:nvPr/>
        </p:nvSpPr>
        <p:spPr>
          <a:xfrm>
            <a:off x="7721600" y="3441700"/>
            <a:ext cx="3225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먹이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콤보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레벨업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몬스터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신기록 순간에 표정과 대사로 반응합니다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F8DE354-47FC-618D-C33D-546ACEEB1B45}"/>
              </a:ext>
            </a:extLst>
          </p:cNvPr>
          <p:cNvSpPr txBox="1"/>
          <p:nvPr/>
        </p:nvSpPr>
        <p:spPr>
          <a:xfrm>
            <a:off x="7721600" y="4140200"/>
            <a:ext cx="3225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80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점 전후 몬스터 예고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, 100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점마다 추가 경고와 상황별 공략을 제공합니다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B3EB98B-7EBA-809B-12F0-430740FB9010}"/>
              </a:ext>
            </a:extLst>
          </p:cNvPr>
          <p:cNvSpPr txBox="1"/>
          <p:nvPr/>
        </p:nvSpPr>
        <p:spPr>
          <a:xfrm>
            <a:off x="7721600" y="4838700"/>
            <a:ext cx="3225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한국어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영어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두 언어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말수와 켜기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/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끄기 선택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;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위치 이동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저장도 지원합니다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870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9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</Words>
  <Application>Microsoft Office PowerPoint</Application>
  <PresentationFormat>宽屏</PresentationFormat>
  <Paragraphs>51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Malgun Gothic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主灵 徐</dc:creator>
  <cp:lastModifiedBy>主灵 徐</cp:lastModifiedBy>
  <cp:revision>5</cp:revision>
  <dcterms:created xsi:type="dcterms:W3CDTF">2026-10-21T05:39:03Z</dcterms:created>
  <dcterms:modified xsi:type="dcterms:W3CDTF">2026-10-21T05:50:16Z</dcterms:modified>
</cp:coreProperties>
</file>